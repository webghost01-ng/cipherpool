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ipherpool-beta.vercel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polia.etherscan.io/tx/0xe36db7ad47a927811971b56166ced5dd5ffa388d368f54623d09d7124ca8b39f" TargetMode="External"/><Relationship Id="rId3" Type="http://schemas.openxmlformats.org/officeDocument/2006/relationships/hyperlink" Target="https://sepolia.etherscan.io/tx/0x504862de2aa5ad002f2314ea834b5336d394e9bf111c5652bb16c8700a1ece6c" TargetMode="External"/><Relationship Id="rId4" Type="http://schemas.openxmlformats.org/officeDocument/2006/relationships/hyperlink" Target="https://sepolia.etherscan.io/tx/0x5763bef70ffc5954c640cb1b5c39cad4bf8a56e45b37caa09e55b861184bc96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ipherpool-beta.vercel.app" TargetMode="External"/><Relationship Id="rId3" Type="http://schemas.openxmlformats.org/officeDocument/2006/relationships/hyperlink" Target="https://github.com/Webghost01-NG/fhevm-pooltogether-securit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01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46888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069848"/>
            <a:ext cx="23225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ZAMA FHEVM · CONFIDENTIAL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6675120" cy="1600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41F37"/>
                </a:solidFill>
                <a:latin typeface="Liberation Sans"/>
              </a:rPr>
              <a:t>Private prize savings,
</a:t>
            </a:r>
            <a:r>
              <a:rPr sz="3600" b="1">
                <a:solidFill>
                  <a:srgbClr val="3157F6"/>
                </a:solidFill>
                <a:latin typeface="Liberation Sans"/>
              </a:rPr>
              <a:t>built for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598932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D6E8E"/>
                </a:solidFill>
                <a:latin typeface="Liberation Sans"/>
              </a:rPr>
              <a:t>Principal stays withdrawable while encrypted balances and ticket weights stay confidential.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24528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2"/>
              </a:rPr>
              <a:t>cipherpool-beta.vercel.app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188720"/>
            <a:ext cx="3840480" cy="4480560"/>
          </a:xfrm>
          <a:prstGeom prst="roundRect">
            <a:avLst/>
          </a:prstGeom>
          <a:solidFill>
            <a:srgbClr val="18359F"/>
          </a:solidFill>
          <a:ln w="12700">
            <a:solidFill>
              <a:srgbClr val="183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627632"/>
            <a:ext cx="2423160" cy="2423160"/>
          </a:xfrm>
          <a:prstGeom prst="ellipse">
            <a:avLst/>
          </a:prstGeom>
          <a:solidFill>
            <a:srgbClr val="3F5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993392"/>
            <a:ext cx="1691640" cy="1691640"/>
          </a:xfrm>
          <a:prstGeom prst="ellipse">
            <a:avLst/>
          </a:prstGeom>
          <a:solidFill>
            <a:srgbClr val="547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2359152"/>
            <a:ext cx="960120" cy="960120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2761488"/>
            <a:ext cx="100584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Liberation Sans"/>
              </a:rPr>
              <a:t>FHE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526280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CDDAFF"/>
                </a:solidFill>
                <a:latin typeface="Liberation Mono"/>
              </a:rPr>
              <a:t>PUBLIC CUSTODY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846320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Liberation Sans"/>
              </a:rPr>
              <a:t>PRIVATE ACCOUNTING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49240"/>
            <a:ext cx="2468880" cy="29260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367527"/>
            <a:ext cx="23225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915200"/>
                </a:solidFill>
                <a:latin typeface="Liberation Sans"/>
              </a:rPr>
              <a:t>RESEARCH SOFTWARE · NOT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Public ledgers expose private financial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Auditability should not require publishing every saver’s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Balance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Wallet history can reveal a saver’s position, deposits, withdrawals, and changing financial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44568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Visible ticket weights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Transparent weights make whale activity easy to track and can disclose each participant’s relative odds.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5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6175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Timing reveals 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Pending deposits and last-minute entries expose behavior around a prize round before it settles.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Public custody. Confidential accounting.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CipherPool separates what must be auditable from what should remain private.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3172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624328"/>
            <a:ext cx="22402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42616"/>
            <a:ext cx="20939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PUBLIC · INDEPENDENTLY VERIFIABLE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27248"/>
            <a:ext cx="4297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F37"/>
                </a:solidFill>
                <a:latin typeface="Liberation Sans"/>
              </a:rPr>
              <a:t>Custody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03320"/>
            <a:ext cx="425196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E8E"/>
                </a:solidFill>
                <a:latin typeface="Liberation Sans"/>
              </a:rPr>
              <a:t>• Deposited testnet cUSDC
• Contract and custody bindings
• Transaction receipts
• Aggregate solvency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96128" y="3520440"/>
            <a:ext cx="1005840" cy="640080"/>
          </a:xfrm>
          <a:prstGeom prst="rightArrow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5257800" cy="333756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B2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624328"/>
            <a:ext cx="214884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642616"/>
            <a:ext cx="200253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ENCRYPTED · WALLET-AUTHORIZED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27248"/>
            <a:ext cx="4297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F37"/>
                </a:solidFill>
                <a:latin typeface="Liberation Sans"/>
              </a:rPr>
              <a:t>Privacy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425196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E8E"/>
                </a:solidFill>
                <a:latin typeface="Liberation Sans"/>
              </a:rPr>
              <a:t>• Running balances as euint64
• Weighted draw intervals
• Prize credits
• Local balance reveal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A verifiable path from wallet to confidential 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828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953512"/>
            <a:ext cx="14996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React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355848"/>
            <a:ext cx="14996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Encrypts input
Requests wallet signature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331720"/>
            <a:ext cx="1828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3639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2953512"/>
            <a:ext cx="14996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Official cUSDC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355848"/>
            <a:ext cx="14996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Moves encrypted assets
Returns actual transfer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331720"/>
            <a:ext cx="2011680" cy="16002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6811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126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95351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ConfidentialPool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35584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Owns encrypted positions
Reserve + draw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331720"/>
            <a:ext cx="2240280" cy="16002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9419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953512"/>
            <a:ext cx="19110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Zama relayer + KMS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55848"/>
            <a:ext cx="19110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Prepares authorized proofs
Verifies public snapshots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0060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68112" y="498348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500176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542239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Indexer + 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582472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Observes public events
Persists checkpoints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480060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9112" y="498348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500176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9112" y="542239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Sponsor wallet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9112" y="582472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Transfers encrypted cUSDC
into the prize reserve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68880" y="3127248"/>
            <a:ext cx="50292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3127248"/>
            <a:ext cx="50292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0" y="3127248"/>
            <a:ext cx="91440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3931920"/>
            <a:ext cx="0" cy="86868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86200" y="3703320"/>
            <a:ext cx="1417320" cy="1892808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4800600"/>
            <a:ext cx="2240280" cy="91440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029200"/>
            <a:ext cx="19202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087F5B"/>
                </a:solidFill>
                <a:latin typeface="Liberation Sans"/>
              </a:rPr>
              <a:t>Public: custody + receipts
Private: positions + winner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LIVE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The console is live—and honest about connection state</a:t>
            </a:r>
          </a:p>
        </p:txBody>
      </p:sp>
      <p:pic>
        <p:nvPicPr>
          <p:cNvPr id="10" name="Picture 9" descr="l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74519"/>
            <a:ext cx="8001000" cy="4572000"/>
          </a:xfrm>
          <a:prstGeom prst="rect">
            <a:avLst/>
          </a:prstGeom>
          <a:ln w="12700">
            <a:solidFill>
              <a:srgbClr val="CFD9F1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887968" y="1874519"/>
            <a:ext cx="2697480" cy="45720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2288" y="2167128"/>
            <a:ext cx="14173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185416"/>
            <a:ext cx="12710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PRODUCTION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743200"/>
            <a:ext cx="2057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1F37"/>
                </a:solidFill>
                <a:latin typeface="Liberation Sans"/>
              </a:rPr>
              <a:t>Clear wallet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273552"/>
            <a:ext cx="201168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A disconnected user sees only Connect wallet. An address appears only after the provider returns the selected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4754880"/>
            <a:ext cx="20574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Runtime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5166360"/>
            <a:ext cx="201168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Chain, bytecode, and custody bindings are checked before protocol writes.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Captured from https://cipherpool-beta.vercel.app · 4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USER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Four explicit steps. No hidden signing.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Shield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Wrap test USDC into confidential cUSDC with Zama's official Sepolia wrapper.</a:t>
            </a:r>
          </a:p>
        </p:txBody>
      </p:sp>
      <p:sp>
        <p:nvSpPr>
          <p:cNvPr id="15" name="Chevron 14"/>
          <p:cNvSpPr/>
          <p:nvPr/>
        </p:nvSpPr>
        <p:spPr>
          <a:xfrm>
            <a:off x="305409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2286000"/>
            <a:ext cx="2331720" cy="338328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0332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Deposit an encrypted cUSDC amount; the pool credits only the token-returned result.</a:t>
            </a:r>
          </a:p>
        </p:txBody>
      </p:sp>
      <p:sp>
        <p:nvSpPr>
          <p:cNvPr id="21" name="Chevron 20"/>
          <p:cNvSpPr/>
          <p:nvPr/>
        </p:nvSpPr>
        <p:spPr>
          <a:xfrm>
            <a:off x="588873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286000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Prize 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Fund or monitor the sponsor reserve, then run a KMS-verified encrypted draw.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2337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2286000"/>
            <a:ext cx="2331720" cy="338328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7260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Withdraw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Submit an encrypted amount; accounting follows the token-returned transfer result.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SECURITY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Solvency and settlement invariants are enforced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350008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322576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Asset-bound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22576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Encrypted deposit credit is derived from the token-returned custody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62656"/>
            <a:ext cx="108813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" y="3163824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82112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136392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Reserved prizes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136392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Each draw consumes verified sponsor funds so assets cannot fund repeated awards.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76472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3977639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95927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3950208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Complete liabilities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50208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Winner credit enters both the encrypted position and aggregate at finalization.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0288"/>
            <a:ext cx="108813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" y="4791455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9743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764024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Bound draw proofs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764024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KMS evidence must match the stored aggregate and reserve handles.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04103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6968" y="5605271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23559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" y="5577840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Timeout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577840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Anyone can release a stale draw lock after the 24-hour cancellation delay.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VERIFIED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A complete live prize round—not a simulated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Each transaction below links directly to its confirmed block-explorer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87168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cUSDC deposit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2"/>
              </a:rPr>
              <a:t>0xe36db7…b39f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Encrypted 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2487168"/>
            <a:ext cx="3401568" cy="2542032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KMS draw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3"/>
              </a:rPr>
              <a:t>0x504862…ce6c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Draw 1 finalized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2487168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360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Private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4"/>
              </a:rPr>
              <a:t>0x5763be…c969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Ordinary withdrawal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349240"/>
            <a:ext cx="8183879" cy="50292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5486400"/>
            <a:ext cx="7909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87F5B"/>
                </a:solidFill>
                <a:latin typeface="Liberation Sans"/>
              </a:rPr>
              <a:t>Deposit → KMS draw → private claim → principal withdrawal · all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Full hashes and runtime evidence: docs/operations/sepolia-deployment.md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ENGINEERING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Reproducible tests—and durable live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749039" cy="3520440"/>
          </a:xfrm>
          <a:prstGeom prst="roundRect">
            <a:avLst/>
          </a:prstGeom>
          <a:solidFill>
            <a:srgbClr val="18359F"/>
          </a:solidFill>
          <a:ln w="12700">
            <a:solidFill>
              <a:srgbClr val="183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20040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iberation Sans"/>
              </a:rPr>
              <a:t>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DDAFF"/>
                </a:solidFill>
                <a:latin typeface="Liberation Mono"/>
              </a:rPr>
              <a:t>VALIDATION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320040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Liberation Sans"/>
              </a:rPr>
              <a:t>Foundry contracts · backend API/indexer
client encryption · frontend 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148840"/>
            <a:ext cx="6812280" cy="93268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368296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68296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React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450592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2468880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PRODUCTION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319272"/>
            <a:ext cx="6812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538728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38728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Node indexer/API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621024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3639312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PUBLIC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489704"/>
            <a:ext cx="6812280" cy="93268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709160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Neon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09160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PostgreSQL checkpoint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791456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4809744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RESTART RECOVERY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5577840"/>
            <a:ext cx="6812280" cy="41148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5669280"/>
            <a:ext cx="6400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F5B"/>
                </a:solidFill>
                <a:latin typeface="Liberation Sans"/>
              </a:rPr>
              <a:t>Indexer checkpoint restored successfully after a live service restart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CipherPool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23317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161288"/>
            <a:ext cx="2185415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OPEN RESEARCH · VERIFIABLE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7132320" cy="1371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141F37"/>
                </a:solidFill>
                <a:latin typeface="Liberation Sans"/>
              </a:rPr>
              <a:t>Confidential savings,
</a:t>
            </a:r>
            <a:r>
              <a:rPr sz="3800" b="1">
                <a:solidFill>
                  <a:srgbClr val="3157F6"/>
                </a:solidFill>
                <a:latin typeface="Liberation Sans"/>
              </a:rPr>
              <a:t>without blind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64922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D6E8E"/>
                </a:solidFill>
                <a:latin typeface="Liberation Sans"/>
              </a:rPr>
              <a:t>Try the live app. Inspect the active Sepolia deployment. Review every invariant and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41148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157F6"/>
                </a:solidFill>
                <a:latin typeface="Liberation Mono"/>
              </a:rPr>
              <a:t/>
            </a:r>
            <a:r>
              <a:rPr sz="1400" b="1">
                <a:solidFill>
                  <a:srgbClr val="3157F6"/>
                </a:solidFill>
                <a:latin typeface="Liberation Mono"/>
                <a:hlinkClick r:id="rId2"/>
              </a:rPr>
              <a:t>cipherpool-beta.vercel.app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36592"/>
            <a:ext cx="60350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157F6"/>
                </a:solidFill>
                <a:latin typeface="Liberation Mono"/>
              </a:rPr>
              <a:t/>
            </a:r>
            <a:r>
              <a:rPr sz="1100" b="1">
                <a:solidFill>
                  <a:srgbClr val="3157F6"/>
                </a:solidFill>
                <a:latin typeface="Liberation Mono"/>
                <a:hlinkClick r:id="rId3"/>
              </a:rPr>
              <a:t>github.com/Webghost01-NG/fhevm-pooltogether-security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17320"/>
            <a:ext cx="3429000" cy="425196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ACTIVE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31720"/>
            <a:ext cx="2560320" cy="2057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41F37"/>
                </a:solidFill>
                <a:latin typeface="Liberation Mono"/>
              </a:rPr>
              <a:t>0x9c939b82
a1B23b77
746f934A
1Ff2b9a5
bCf191e0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800600"/>
            <a:ext cx="146304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4818888"/>
            <a:ext cx="131673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ETHEREUM SEPOLIA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CipherPool · Zama fhEVM · Research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CipherPool — Private Prize Savings</dc:title>
  <dc:subject>Verified Zama fhEVM research deployment showcase</dc:subject>
  <dc:creator>CipherPool contributors</dc:creator>
  <cp:keywords/>
  <dc:description>Generated from repository-verified facts; no fabricated transactions or production claims.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