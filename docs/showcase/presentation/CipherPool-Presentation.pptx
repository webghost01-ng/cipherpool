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ipherpool-beta.vercel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epolia.etherscan.io/tx/0x9343409424cdc02a24072d5387bb66024e93571348717ca4c07ddeaf44f78e2e" TargetMode="External"/><Relationship Id="rId3" Type="http://schemas.openxmlformats.org/officeDocument/2006/relationships/hyperlink" Target="https://sepolia.etherscan.io/tx/0x31ae42662b335897374765e8e7ef1de68ac5a19e5be03aa87b9692590a9f7a6b" TargetMode="External"/><Relationship Id="rId4" Type="http://schemas.openxmlformats.org/officeDocument/2006/relationships/hyperlink" Target="https://sepolia.etherscan.io/tx/0xc160a12430dc923605816d1c80cd391dc46dccb911ca35c9cae424891a2f3878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ipherpool-beta.vercel.app" TargetMode="External"/><Relationship Id="rId3" Type="http://schemas.openxmlformats.org/officeDocument/2006/relationships/hyperlink" Target="https://github.com/Webghost01-NG/fhevm-pooltogether-securit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01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051560"/>
            <a:ext cx="246888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069848"/>
            <a:ext cx="23225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ZAMA FHEVM · CONFIDENTIAL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72768"/>
            <a:ext cx="6675120" cy="1600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141F37"/>
                </a:solidFill>
                <a:latin typeface="Liberation Sans"/>
              </a:rPr>
              <a:t>Private prize savings,
</a:t>
            </a:r>
            <a:r>
              <a:rPr sz="3600" b="1">
                <a:solidFill>
                  <a:srgbClr val="3157F6"/>
                </a:solidFill>
                <a:latin typeface="Liberation Sans"/>
              </a:rPr>
              <a:t>built for verification.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64992"/>
            <a:ext cx="5989320" cy="6217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Principal stays withdrawable while encrypted balances and ticket weights stay confidential.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24528"/>
            <a:ext cx="384048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cipherpool-beta.vercel.app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188720"/>
            <a:ext cx="3840480" cy="448056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92440" y="1627632"/>
            <a:ext cx="2423160" cy="2423160"/>
          </a:xfrm>
          <a:prstGeom prst="ellipse">
            <a:avLst/>
          </a:prstGeom>
          <a:solidFill>
            <a:srgbClr val="3F5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8200" y="1993392"/>
            <a:ext cx="1691640" cy="1691640"/>
          </a:xfrm>
          <a:prstGeom prst="ellipse">
            <a:avLst/>
          </a:prstGeom>
          <a:solidFill>
            <a:srgbClr val="547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3960" y="2359152"/>
            <a:ext cx="960120" cy="960120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2761488"/>
            <a:ext cx="1005840" cy="457200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Liberation Sans"/>
              </a:rPr>
              <a:t>FHE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526280"/>
            <a:ext cx="292608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CDDAFF"/>
                </a:solidFill>
                <a:latin typeface="Liberation Mono"/>
              </a:rPr>
              <a:t>PUBLIC CUSTODY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846320"/>
            <a:ext cx="292608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Liberation Sans"/>
              </a:rPr>
              <a:t>PRIVATE ACCOUNTING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349240"/>
            <a:ext cx="2468880" cy="292608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5367527"/>
            <a:ext cx="23225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915200"/>
                </a:solidFill>
                <a:latin typeface="Liberation Sans"/>
              </a:rPr>
              <a:t>RESEARCH SOFTWARE · NOT PRODUCTION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02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ledgers expose private financial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Auditability should not require publishing every saver’s 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Balance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Wallet history can reveal a saver’s position, deposits, withdrawals, and changing financial behavior.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44568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Visible ticket weights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Transparent weights make whale activity easy to track and can disclose each participant’s relative odds.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5" y="2423160"/>
            <a:ext cx="35661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66175" y="2651760"/>
            <a:ext cx="566928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670048"/>
            <a:ext cx="420623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5" y="3136391"/>
            <a:ext cx="3108960" cy="5029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Timing reveals intent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6175" y="3721608"/>
            <a:ext cx="3108960" cy="1737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Pending deposits and last-minute entries expose behavior around a prize round before it settles.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03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Public custody. Confidential accounting.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CipherPool separates what must be auditable from what should remain private.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331720"/>
            <a:ext cx="52578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96112" y="2624328"/>
            <a:ext cx="22402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42616"/>
            <a:ext cx="20939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· INDEPENDENTLY VERIFIABLE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Custody layer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Deposited testnet USDC
• Contract and vault bindings
• Transaction receipts
• Aggregate solvency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596128" y="3520440"/>
            <a:ext cx="1005840" cy="640080"/>
          </a:xfrm>
          <a:prstGeom prst="rightArrow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2331720"/>
            <a:ext cx="5257800" cy="33375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B2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0" y="2624328"/>
            <a:ext cx="214884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642616"/>
            <a:ext cx="20025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ENCRYPTED · WALLET-AUTHORIZED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127248"/>
            <a:ext cx="4297680" cy="38404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41F37"/>
                </a:solidFill>
                <a:latin typeface="Liberation Sans"/>
              </a:rPr>
              <a:t>Privacy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703320"/>
            <a:ext cx="4251960" cy="1463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5D6E8E"/>
                </a:solidFill>
                <a:latin typeface="Liberation Sans"/>
              </a:rPr>
              <a:t>• Running balances as euint64
• Weighted draw intervals
• Prize credits
• Local balance reveal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04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verifiable path from wallet to confidential settlement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160020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59" y="2578608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1" y="25968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108960"/>
            <a:ext cx="12344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1F37"/>
                </a:solidFill>
                <a:latin typeface="Liberation Sans"/>
              </a:rPr>
              <a:t>React client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877056"/>
            <a:ext cx="123444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D6E8E"/>
                </a:solidFill>
                <a:latin typeface="Liberation Sans"/>
              </a:rPr>
              <a:t>Vercel
Wallet signatures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40280" y="3611880"/>
            <a:ext cx="7315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971800" y="2331720"/>
            <a:ext cx="1600200" cy="260604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54680" y="2578608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27832" y="25968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108960"/>
            <a:ext cx="12344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1F37"/>
                </a:solidFill>
                <a:latin typeface="Liberation Sans"/>
              </a:rPr>
              <a:t>ConfidentialPool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3877056"/>
            <a:ext cx="123444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D6E8E"/>
                </a:solidFill>
                <a:latin typeface="Liberation Sans"/>
              </a:rPr>
              <a:t>Encrypted balances
Prize liabilities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3611880"/>
            <a:ext cx="7315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303520" y="2331720"/>
            <a:ext cx="160020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0" y="2578608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25968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108960"/>
            <a:ext cx="12344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1F37"/>
                </a:solidFill>
                <a:latin typeface="Liberation Sans"/>
              </a:rPr>
              <a:t>ConfidentialVault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3877056"/>
            <a:ext cx="123444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D6E8E"/>
                </a:solidFill>
                <a:latin typeface="Liberation Sans"/>
              </a:rPr>
              <a:t>Strategy custody
Yield isolation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03720" y="3611880"/>
            <a:ext cx="731520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635240" y="2331720"/>
            <a:ext cx="1600200" cy="260604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818119" y="2578608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91271" y="25968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19" y="3108960"/>
            <a:ext cx="12344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1F37"/>
                </a:solidFill>
                <a:latin typeface="Liberation Sans"/>
              </a:rPr>
              <a:t>Zama relayer + KMS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19" y="3877056"/>
            <a:ext cx="123444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D6E8E"/>
                </a:solidFill>
                <a:latin typeface="Liberation Sans"/>
              </a:rPr>
              <a:t>Threshold proof
Public decryption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35440" y="3611880"/>
            <a:ext cx="731519" cy="0"/>
          </a:xfrm>
          <a:prstGeom prst="line">
            <a:avLst/>
          </a:prstGeom>
          <a:ln w="25400">
            <a:solidFill>
              <a:srgbClr val="315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966960" y="2331720"/>
            <a:ext cx="1600200" cy="2606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149840" y="2578608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22992" y="25968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3108960"/>
            <a:ext cx="1234440" cy="56692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1F37"/>
                </a:solidFill>
                <a:latin typeface="Liberation Sans"/>
              </a:rPr>
              <a:t>Indexer + PostgreSQL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40" y="3877056"/>
            <a:ext cx="1234440" cy="6858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D6E8E"/>
                </a:solidFill>
                <a:latin typeface="Liberation Sans"/>
              </a:rPr>
              <a:t>Public state
Durable checkpoint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920240" y="5303520"/>
            <a:ext cx="8321040" cy="59436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57400" y="5458968"/>
            <a:ext cx="804672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7F5B"/>
                </a:solidFill>
                <a:latin typeface="Liberation Sans"/>
              </a:rPr>
              <a:t>Every write is explicit · Every custody movement is public · Private state remains encrypted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05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LIVE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The console is live—and honest about connection state</a:t>
            </a:r>
          </a:p>
        </p:txBody>
      </p:sp>
      <p:pic>
        <p:nvPicPr>
          <p:cNvPr id="10" name="Picture 9" descr="l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874519"/>
            <a:ext cx="8001000" cy="4572000"/>
          </a:xfrm>
          <a:prstGeom prst="rect">
            <a:avLst/>
          </a:prstGeom>
          <a:ln w="12700">
            <a:solidFill>
              <a:srgbClr val="CFD9F1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8887968" y="1874519"/>
            <a:ext cx="2697480" cy="457200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62288" y="2167128"/>
            <a:ext cx="14173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2185416"/>
            <a:ext cx="12710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PRODUCTION 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62288" y="2743200"/>
            <a:ext cx="2057400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41F37"/>
                </a:solidFill>
                <a:latin typeface="Liberation Sans"/>
              </a:rPr>
              <a:t>Clear wallet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288" y="3273552"/>
            <a:ext cx="2011680" cy="12344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A disconnected user sees only Connect wallet. An address appears only after the provider returns the selected account.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2288" y="4754880"/>
            <a:ext cx="20574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Runtime assurance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62288" y="5166360"/>
            <a:ext cx="2011680" cy="8229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Chain, bytecode, vault, and custody bindings are checked before protocol writes.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Captured from https://cipherpool-beta.vercel.app · 4 Sep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06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USER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Four explicit steps. No hidden signing.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Deposit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Public testnet USDC moves into custody; equal encrypted credit is derived on-chain.</a:t>
            </a:r>
          </a:p>
        </p:txBody>
      </p:sp>
      <p:sp>
        <p:nvSpPr>
          <p:cNvPr id="15" name="Chevron 14"/>
          <p:cNvSpPr/>
          <p:nvPr/>
        </p:nvSpPr>
        <p:spPr>
          <a:xfrm>
            <a:off x="305409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7472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70332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0332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Prize round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Encrypted ticket weights enter homomorphic weighted selection.</a:t>
            </a:r>
          </a:p>
        </p:txBody>
      </p:sp>
      <p:sp>
        <p:nvSpPr>
          <p:cNvPr id="21" name="Chevron 20"/>
          <p:cNvSpPr/>
          <p:nvPr/>
        </p:nvSpPr>
        <p:spPr>
          <a:xfrm>
            <a:off x="588873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09360" y="2286000"/>
            <a:ext cx="233172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Request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Encrypted sufficiency is evaluated and a request-bound handle is stored.</a:t>
            </a:r>
          </a:p>
        </p:txBody>
      </p:sp>
      <p:sp>
        <p:nvSpPr>
          <p:cNvPr id="27" name="Chevron 26"/>
          <p:cNvSpPr/>
          <p:nvPr/>
        </p:nvSpPr>
        <p:spPr>
          <a:xfrm>
            <a:off x="8723376" y="3520440"/>
            <a:ext cx="320040" cy="502920"/>
          </a:xfrm>
          <a:prstGeom prst="chevron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44000" y="2286000"/>
            <a:ext cx="2331720" cy="338328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72600" y="2578608"/>
            <a:ext cx="530352" cy="530352"/>
          </a:xfrm>
          <a:prstGeom prst="ellipse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2660904"/>
            <a:ext cx="530352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Liberation Mono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3383280"/>
            <a:ext cx="1874519" cy="4114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41F37"/>
                </a:solidFill>
                <a:latin typeface="Liberation Sans"/>
              </a:rPr>
              <a:t>Finalize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4069080"/>
            <a:ext cx="1874519" cy="11430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KMS proof is prepared; the requesting wallet signs the settlement transaction.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07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SECURITY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Solvency and settlement invariants are enforced in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148840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" y="2350008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68296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2322576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Asset-bound 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22576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Encrypted deposit credit is derived from the transferred public amount.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62656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6968" y="3163824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82112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3136392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Reserved prizes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3136392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Each draw consumes available yield so assets cannot fund repeated awards.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776472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3977639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995927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3950208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Complete liabilities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3950208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Compounded prizes increase aggregate accounted obligations.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590288"/>
            <a:ext cx="108813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86968" y="4791455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09743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4764024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Anchored requests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4764024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The encrypted withdrawal handle is stored and bound to the requester.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404103"/>
            <a:ext cx="10881360" cy="694944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86968" y="5605271"/>
            <a:ext cx="50292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623559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18488" y="5577840"/>
            <a:ext cx="2331720" cy="31089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1F37"/>
                </a:solidFill>
                <a:latin typeface="Liberation Sans"/>
              </a:rPr>
              <a:t>Verifiable exit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5577840"/>
            <a:ext cx="722376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E8E"/>
                </a:solidFill>
                <a:latin typeface="Liberation Sans"/>
              </a:rPr>
              <a:t>KMS signatures are checked on-chain; stale requests can cancel after 24 hours.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08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VERIFIED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A real 1 USDC Sepolia lifecycle—not a simulated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719072"/>
            <a:ext cx="10332720" cy="4572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5D6E8E"/>
                </a:solidFill>
                <a:latin typeface="Liberation Sans"/>
              </a:rPr>
              <a:t>Each transaction below links directly to its confirmed block-explorer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8696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Deposit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2"/>
              </a:rPr>
              <a:t>0x934340…8e2e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Custody +1 USDC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61688" y="2487168"/>
            <a:ext cx="3401568" cy="2542032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9028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Withdrawal request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3"/>
              </a:rPr>
              <a:t>0x31ae42…7a6b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Handle anchored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2487168"/>
            <a:ext cx="3401568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293608" y="2724912"/>
            <a:ext cx="5029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2743200"/>
            <a:ext cx="35661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3246120"/>
            <a:ext cx="2834640" cy="3657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41F37"/>
                </a:solidFill>
                <a:latin typeface="Liberation Sans"/>
              </a:rPr>
              <a:t>KMS finalization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85876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157F6"/>
                </a:solidFill>
                <a:latin typeface="Liberation Mono"/>
              </a:rPr>
              <a:t/>
            </a:r>
            <a:r>
              <a:rPr sz="1200" b="1">
                <a:solidFill>
                  <a:srgbClr val="3157F6"/>
                </a:solidFill>
                <a:latin typeface="Liberation Mono"/>
                <a:hlinkClick r:id="rId4"/>
              </a:rPr>
              <a:t>0xc160a1…3878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4407408"/>
            <a:ext cx="2743200" cy="2743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87F5B"/>
                </a:solidFill>
                <a:latin typeface="Liberation Sans"/>
              </a:rPr>
              <a:t>Wallet restored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11680" y="5349240"/>
            <a:ext cx="8183879" cy="50292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48840" y="5486400"/>
            <a:ext cx="790956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087F5B"/>
                </a:solidFill>
                <a:latin typeface="Liberation Sans"/>
              </a:rPr>
              <a:t>Final state: wallet 20 USDC · pool custody 0 · accounted principal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Full hashes and runtime evidence: docs/operations/sepolia-deployment.md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09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758952"/>
            <a:ext cx="5029200" cy="219456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ENGINEERING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005840"/>
            <a:ext cx="10972800" cy="7132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1F37"/>
                </a:solidFill>
                <a:latin typeface="Liberation Sans"/>
              </a:rPr>
              <a:t>113 automated tests—and durable live infrastructure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48840"/>
            <a:ext cx="3749039" cy="3520440"/>
          </a:xfrm>
          <a:prstGeom prst="roundRect">
            <a:avLst/>
          </a:prstGeom>
          <a:solidFill>
            <a:srgbClr val="18359F"/>
          </a:solidFill>
          <a:ln w="12700">
            <a:solidFill>
              <a:srgbClr val="1835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3200400" cy="914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Liberation Sans"/>
              </a:rPr>
              <a:t>113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66160"/>
            <a:ext cx="3200400" cy="32004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CDDAFF"/>
                </a:solidFill>
                <a:latin typeface="Liberation Mono"/>
              </a:rPr>
              <a:t>PASSING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3200400" cy="73152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Liberation Sans"/>
              </a:rPr>
              <a:t>51 Foundry · 32 backend
2 client · 28 frontend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2148840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83480" y="2368296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Vercel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68296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React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450592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54312" y="2468880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PRODUCTION 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319272"/>
            <a:ext cx="68122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3538728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Render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538728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Node relayer/indexer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60" y="3621024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3639312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PUBLIC 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489704"/>
            <a:ext cx="6812280" cy="93268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83480" y="4709160"/>
            <a:ext cx="118872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1F37"/>
                </a:solidFill>
                <a:latin typeface="Liberation Sans"/>
              </a:rPr>
              <a:t>Neon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2514600" cy="292608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E8E"/>
                </a:solidFill>
                <a:latin typeface="Liberation Sans"/>
              </a:rPr>
              <a:t>PostgreSQL checkpoint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791456"/>
            <a:ext cx="178308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809744"/>
            <a:ext cx="163677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RESTART RECOVERY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5577840"/>
            <a:ext cx="6812280" cy="411480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5669280"/>
            <a:ext cx="6400800" cy="21031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87F5B"/>
                </a:solidFill>
                <a:latin typeface="Liberation Sans"/>
              </a:rPr>
              <a:t>Indexer checkpoint restored successfully after a live service restart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Verified claims and links: docs/showcase/SUBMISSION_OVERVIEW.md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30352" y="256032"/>
            <a:ext cx="310896" cy="310896"/>
          </a:xfrm>
          <a:prstGeom prst="roundRect">
            <a:avLst/>
          </a:prstGeom>
          <a:solidFill>
            <a:srgbClr val="3157F6"/>
          </a:solidFill>
          <a:ln w="12700">
            <a:solidFill>
              <a:srgbClr val="3157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260603"/>
            <a:ext cx="310896" cy="256032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Liberation Sans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74320"/>
            <a:ext cx="1371600" cy="25603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1F37"/>
                </a:solidFill>
                <a:latin typeface="Liberation Sans"/>
              </a:rPr>
              <a:t>CipherPool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310896"/>
            <a:ext cx="3337560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RESEARCH DEPLOYMENT · ETHEREUM SEPOLIA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73968" y="310896"/>
            <a:ext cx="493776" cy="18288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10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15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143000"/>
            <a:ext cx="2331720" cy="292608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EFF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1161288"/>
            <a:ext cx="2185415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Sans"/>
              </a:rPr>
              <a:t>OPEN RESEARCH · VERIFIABLE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45920"/>
            <a:ext cx="7132320" cy="1371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/>
            <a:r>
              <a:rPr sz="3800" b="1">
                <a:solidFill>
                  <a:srgbClr val="141F37"/>
                </a:solidFill>
                <a:latin typeface="Liberation Sans"/>
              </a:rPr>
              <a:t>Confidential savings,
</a:t>
            </a:r>
            <a:r>
              <a:rPr sz="3800" b="1">
                <a:solidFill>
                  <a:srgbClr val="3157F6"/>
                </a:solidFill>
                <a:latin typeface="Liberation Sans"/>
              </a:rPr>
              <a:t>without blind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7560"/>
            <a:ext cx="6492240" cy="59436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D6E8E"/>
                </a:solidFill>
                <a:latin typeface="Liberation Sans"/>
              </a:rPr>
              <a:t>Try the live app. Inspect the active Sepolia deployment. Review every invariant and test.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51960"/>
            <a:ext cx="411480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157F6"/>
                </a:solidFill>
                <a:latin typeface="Liberation Mono"/>
              </a:rPr>
              <a:t/>
            </a:r>
            <a:r>
              <a:rPr sz="1400" b="1">
                <a:solidFill>
                  <a:srgbClr val="3157F6"/>
                </a:solidFill>
                <a:latin typeface="Liberation Mono"/>
                <a:hlinkClick r:id="rId2"/>
              </a:rPr>
              <a:t>cipherpool-beta.vercel.app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6035040" cy="329184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3157F6"/>
                </a:solidFill>
                <a:latin typeface="Liberation Mono"/>
              </a:rPr>
              <a:t/>
            </a:r>
            <a:r>
              <a:rPr sz="1100" b="1">
                <a:solidFill>
                  <a:srgbClr val="3157F6"/>
                </a:solidFill>
                <a:latin typeface="Liberation Mono"/>
                <a:hlinkClick r:id="rId3"/>
              </a:rPr>
              <a:t>github.com/Webghost01-NG/fhevm-pooltogether-security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417320"/>
            <a:ext cx="3429000" cy="4251960"/>
          </a:xfrm>
          <a:prstGeom prst="roundRect">
            <a:avLst/>
          </a:prstGeom>
          <a:solidFill>
            <a:srgbClr val="EFF3FF"/>
          </a:solidFill>
          <a:ln w="12700">
            <a:solidFill>
              <a:srgbClr val="CFD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2560320" cy="2286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157F6"/>
                </a:solidFill>
                <a:latin typeface="Liberation Mono"/>
              </a:rPr>
              <a:t>ACTIVE POOL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331720"/>
            <a:ext cx="2560320" cy="2057400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41F37"/>
                </a:solidFill>
                <a:latin typeface="Liberation Mono"/>
              </a:rPr>
              <a:t>0x105C5786
0b32a37F
3C7CF2AE
cF5a39Ab
bCA1d265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4800600"/>
            <a:ext cx="1463040" cy="292608"/>
          </a:xfrm>
          <a:prstGeom prst="roundRect">
            <a:avLst/>
          </a:prstGeom>
          <a:solidFill>
            <a:srgbClr val="E5F9F1"/>
          </a:solidFill>
          <a:ln w="12700">
            <a:solidFill>
              <a:srgbClr val="E5F9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4818888"/>
            <a:ext cx="1316736" cy="219456"/>
          </a:xfrm>
          <a:prstGeom prst="rect">
            <a:avLst/>
          </a:prstGeom>
          <a:noFill/>
        </p:spPr>
        <p:txBody>
          <a:bodyPr wrap="none" lIns="18288" rIns="18288" tIns="18288" bIns="18288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087F5B"/>
                </a:solidFill>
                <a:latin typeface="Liberation Sans"/>
              </a:rPr>
              <a:t>ETHEREUM SEPOLIA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164592"/>
          </a:xfrm>
          <a:prstGeom prst="rect">
            <a:avLst/>
          </a:prstGeom>
          <a:noFill/>
        </p:spPr>
        <p:txBody>
          <a:bodyPr wrap="none" lIns="18288" rIns="18288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5D6E8E"/>
                </a:solidFill>
                <a:latin typeface="Liberation Mono"/>
              </a:rPr>
              <a:t>CipherPool · Zama fhEVM · Research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CipherPool — Private Prize Savings</dc:title>
  <dc:subject>Verified Zama fhEVM research deployment showcase</dc:subject>
  <dc:creator>CipherPool contributors</dc:creator>
  <cp:keywords/>
  <dc:description>Generated from repository-verified facts; no fabricated transactions or production claims.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