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ipherpool-beta.vercel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epolia.etherscan.io/tx/0x36f81f06a30a600ed67e70e19a0d6239beb1d31fceb3822decfc88f7e7cdfa87" TargetMode="External"/><Relationship Id="rId3" Type="http://schemas.openxmlformats.org/officeDocument/2006/relationships/hyperlink" Target="https://sepolia.etherscan.io/tx/0x8ee0e488e23620b567ac8b105a0b5d43d3bde2c72f84113889f8f48784738429" TargetMode="External"/><Relationship Id="rId4" Type="http://schemas.openxmlformats.org/officeDocument/2006/relationships/hyperlink" Target="https://sepolia.etherscan.io/tx/0x07b797674aa730eea1b851d5ed78352741d7029ef0b1168521244c81e1057ea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ipherpool-beta.vercel.app" TargetMode="External"/><Relationship Id="rId3" Type="http://schemas.openxmlformats.org/officeDocument/2006/relationships/hyperlink" Target="https://github.com/Webghost01-NG/fhevm-pooltogether-securit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01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051560"/>
            <a:ext cx="246888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069848"/>
            <a:ext cx="23225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ZAMA FHEVM · CONFIDENTIAL 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6675120" cy="1600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600" b="1">
                <a:solidFill>
                  <a:srgbClr val="141F37"/>
                </a:solidFill>
                <a:latin typeface="Liberation Sans"/>
              </a:rPr>
              <a:t>Private prize savings,
</a:t>
            </a:r>
            <a:r>
              <a:rPr sz="3600" b="1">
                <a:solidFill>
                  <a:srgbClr val="3157F6"/>
                </a:solidFill>
                <a:latin typeface="Liberation Sans"/>
              </a:rPr>
              <a:t>built for verification.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64992"/>
            <a:ext cx="5989320" cy="6217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D6E8E"/>
                </a:solidFill>
                <a:latin typeface="Liberation Sans"/>
              </a:rPr>
              <a:t>Principal stays withdrawable while encrypted balances and ticket weights stay confidential.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24528"/>
            <a:ext cx="384048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2"/>
              </a:rPr>
              <a:t>cipherpool-beta.vercel.app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188720"/>
            <a:ext cx="3840480" cy="4480560"/>
          </a:xfrm>
          <a:prstGeom prst="roundRect">
            <a:avLst/>
          </a:prstGeom>
          <a:solidFill>
            <a:srgbClr val="18359F"/>
          </a:solidFill>
          <a:ln w="12700">
            <a:solidFill>
              <a:srgbClr val="183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627632"/>
            <a:ext cx="2423160" cy="2423160"/>
          </a:xfrm>
          <a:prstGeom prst="ellipse">
            <a:avLst/>
          </a:prstGeom>
          <a:solidFill>
            <a:srgbClr val="3F5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8200" y="1993392"/>
            <a:ext cx="1691640" cy="1691640"/>
          </a:xfrm>
          <a:prstGeom prst="ellipse">
            <a:avLst/>
          </a:prstGeom>
          <a:solidFill>
            <a:srgbClr val="547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3960" y="2359152"/>
            <a:ext cx="960120" cy="960120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816" y="2761488"/>
            <a:ext cx="1005840" cy="4572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Liberation Sans"/>
              </a:rPr>
              <a:t>FHE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526280"/>
            <a:ext cx="29260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CDDAFF"/>
                </a:solidFill>
                <a:latin typeface="Liberation Mono"/>
              </a:rPr>
              <a:t>PUBLIC CUSTODY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846320"/>
            <a:ext cx="29260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Liberation Sans"/>
              </a:rPr>
              <a:t>PRIVATE ACCOUNTING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349240"/>
            <a:ext cx="2468880" cy="292608"/>
          </a:xfrm>
          <a:prstGeom prst="roundRect">
            <a:avLst/>
          </a:prstGeom>
          <a:solidFill>
            <a:srgbClr val="FFF4D6"/>
          </a:solidFill>
          <a:ln w="12700"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5367527"/>
            <a:ext cx="23225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915200"/>
                </a:solidFill>
                <a:latin typeface="Liberation Sans"/>
              </a:rPr>
              <a:t>RESEARCH SOFTWARE · NOT PRODUCTION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02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Public ledgers expose private financial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19072"/>
            <a:ext cx="1033272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D6E8E"/>
                </a:solidFill>
                <a:latin typeface="Liberation Sans"/>
              </a:rPr>
              <a:t>Auditability should not require publishing every saver’s 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423160"/>
            <a:ext cx="35661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566928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670048"/>
            <a:ext cx="420623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36391"/>
            <a:ext cx="3108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Balance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21608"/>
            <a:ext cx="3108960" cy="1737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Wallet history can reveal a saver’s position, deposits, withdrawals, and changing financial behavior.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2423160"/>
            <a:ext cx="35661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44568" y="2651760"/>
            <a:ext cx="566928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670048"/>
            <a:ext cx="420623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136391"/>
            <a:ext cx="3108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Visible ticket weights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3721608"/>
            <a:ext cx="3108960" cy="1737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Transparent weights make whale activity easy to track and can disclose each participant’s relative odds.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5" y="2423160"/>
            <a:ext cx="35661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66175" y="2651760"/>
            <a:ext cx="566928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670048"/>
            <a:ext cx="420623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3136391"/>
            <a:ext cx="3108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Timing reveals intent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3721608"/>
            <a:ext cx="3108960" cy="1737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Pending deposits and last-minute entries expose behavior around a prize round before it settles.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03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Public custody. Confidential accounting.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19072"/>
            <a:ext cx="1033272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D6E8E"/>
                </a:solidFill>
                <a:latin typeface="Liberation Sans"/>
              </a:rPr>
              <a:t>CipherPool separates what must be auditable from what should remain private.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2331720"/>
            <a:ext cx="52578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6112" y="2624328"/>
            <a:ext cx="22402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642616"/>
            <a:ext cx="20939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PUBLIC · INDEPENDENTLY VERIFIABLE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127248"/>
            <a:ext cx="42976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F37"/>
                </a:solidFill>
                <a:latin typeface="Liberation Sans"/>
              </a:rPr>
              <a:t>Custody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703320"/>
            <a:ext cx="4251960" cy="1463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D6E8E"/>
                </a:solidFill>
                <a:latin typeface="Liberation Sans"/>
              </a:rPr>
              <a:t>• Deposited testnet cUSDC
• Contract and custody bindings
• Transaction receipts
• Aggregate solvency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596128" y="3520440"/>
            <a:ext cx="1005840" cy="640080"/>
          </a:xfrm>
          <a:prstGeom prst="rightArrow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2331720"/>
            <a:ext cx="5257800" cy="333756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B2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0" y="2624328"/>
            <a:ext cx="214884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2642616"/>
            <a:ext cx="200253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ENCRYPTED · WALLET-AUTHORIZED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127248"/>
            <a:ext cx="42976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F37"/>
                </a:solidFill>
                <a:latin typeface="Liberation Sans"/>
              </a:rPr>
              <a:t>Privacy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703320"/>
            <a:ext cx="4251960" cy="1463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D6E8E"/>
                </a:solidFill>
                <a:latin typeface="Liberation Sans"/>
              </a:rPr>
              <a:t>• Running balances as euint64
• Weighted draw intervals
• Prize credits
• Local balance reveal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04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A verifiable path from wallet to confidential settlement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1828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1" y="251460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3" y="253288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953512"/>
            <a:ext cx="149961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React 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355848"/>
            <a:ext cx="149961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Encrypts input
Requests wallet signature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2331720"/>
            <a:ext cx="1828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136392" y="251460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9544" y="253288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6392" y="2953512"/>
            <a:ext cx="149961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Official cUSDC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6392" y="3355848"/>
            <a:ext cx="149961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Moves encrypted assets
Returns actual transfer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2331720"/>
            <a:ext cx="2011680" cy="160020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68112" y="251460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41264" y="253288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953512"/>
            <a:ext cx="168249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ConfidentialPool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8112" y="3355848"/>
            <a:ext cx="168249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Owns encrypted positions
Reserve + draw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2331720"/>
            <a:ext cx="2240280" cy="160020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94192" y="251460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253288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953512"/>
            <a:ext cx="191109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Zama relayer + KMS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55848"/>
            <a:ext cx="191109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Prepares authorized proofs
Verifies public snapshots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800600"/>
            <a:ext cx="20116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68112" y="498348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1264" y="500176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8112" y="5422392"/>
            <a:ext cx="168249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Indexer + PostgreSQL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8112" y="5824728"/>
            <a:ext cx="168249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Observes public events
Persists checkpoints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74519" y="4800600"/>
            <a:ext cx="20116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039112" y="498348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12264" y="500176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39112" y="5422392"/>
            <a:ext cx="168249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Sponsor wallet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39112" y="5824728"/>
            <a:ext cx="168249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Transfers encrypted cUSDC
into the prize reserve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468880" y="3127248"/>
            <a:ext cx="502920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800600" y="3127248"/>
            <a:ext cx="502920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315200" y="3127248"/>
            <a:ext cx="914400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309360" y="3931920"/>
            <a:ext cx="0" cy="86868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86200" y="3703320"/>
            <a:ext cx="1417320" cy="1892808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229600" y="4800600"/>
            <a:ext cx="2240280" cy="914400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4192" y="5029200"/>
            <a:ext cx="192024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87F5B"/>
                </a:solidFill>
                <a:latin typeface="Liberation Sans"/>
              </a:rPr>
              <a:t>Public: custody + receipts
Private: positions + winner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05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LIVE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The console is live—and honest about connection state</a:t>
            </a:r>
          </a:p>
        </p:txBody>
      </p:sp>
      <p:pic>
        <p:nvPicPr>
          <p:cNvPr id="10" name="Picture 9" descr="l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74519"/>
            <a:ext cx="8001000" cy="4572000"/>
          </a:xfrm>
          <a:prstGeom prst="rect">
            <a:avLst/>
          </a:prstGeom>
          <a:ln w="12700">
            <a:solidFill>
              <a:srgbClr val="CFD9F1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8887968" y="1874519"/>
            <a:ext cx="2697480" cy="457200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62288" y="2167128"/>
            <a:ext cx="14173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2185416"/>
            <a:ext cx="12710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PRODUCTION 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62288" y="2743200"/>
            <a:ext cx="205740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1F37"/>
                </a:solidFill>
                <a:latin typeface="Liberation Sans"/>
              </a:rPr>
              <a:t>Clear wallet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3273552"/>
            <a:ext cx="2011680" cy="12344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A disconnected user sees only Connect wallet. An address appears only after the provider returns the selected account.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4754880"/>
            <a:ext cx="20574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Runtime assurance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5166360"/>
            <a:ext cx="2011680" cy="8229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Chain, bytecode, and custody bindings are checked before protocol writes.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Captured from https://cipherpool-beta.vercel.app · 4 Sep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06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USER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Four explicit steps. No hidden signing.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3317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Shield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Wrap test USDC into confidential cUSDC with Zama's official Sepolia wrapper.</a:t>
            </a:r>
          </a:p>
        </p:txBody>
      </p:sp>
      <p:sp>
        <p:nvSpPr>
          <p:cNvPr id="15" name="Chevron 14"/>
          <p:cNvSpPr/>
          <p:nvPr/>
        </p:nvSpPr>
        <p:spPr>
          <a:xfrm>
            <a:off x="3054096" y="3520440"/>
            <a:ext cx="320040" cy="502920"/>
          </a:xfrm>
          <a:prstGeom prst="chevron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74720" y="2286000"/>
            <a:ext cx="2331720" cy="338328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0332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Save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Deposit an encrypted cUSDC amount; the pool credits only the token-returned result.</a:t>
            </a:r>
          </a:p>
        </p:txBody>
      </p:sp>
      <p:sp>
        <p:nvSpPr>
          <p:cNvPr id="21" name="Chevron 20"/>
          <p:cNvSpPr/>
          <p:nvPr/>
        </p:nvSpPr>
        <p:spPr>
          <a:xfrm>
            <a:off x="5888736" y="3520440"/>
            <a:ext cx="320040" cy="502920"/>
          </a:xfrm>
          <a:prstGeom prst="chevron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09360" y="2286000"/>
            <a:ext cx="23317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Prize round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Fund or monitor the sponsor reserve, then run a KMS-verified encrypted draw.</a:t>
            </a:r>
          </a:p>
        </p:txBody>
      </p:sp>
      <p:sp>
        <p:nvSpPr>
          <p:cNvPr id="27" name="Chevron 26"/>
          <p:cNvSpPr/>
          <p:nvPr/>
        </p:nvSpPr>
        <p:spPr>
          <a:xfrm>
            <a:off x="8723376" y="3520440"/>
            <a:ext cx="320040" cy="502920"/>
          </a:xfrm>
          <a:prstGeom prst="chevron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0" y="2286000"/>
            <a:ext cx="2331720" cy="338328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7260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7260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Withdraw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Submit an encrypted amount; accounting follows the token-returned transfer result.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07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SECURITY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Solvency and settlement invariants are enforced in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148840"/>
            <a:ext cx="10881360" cy="694944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" y="2350008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368296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8488" y="2322576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Asset-bound 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22576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Encrypted deposit credit is derived from the token-returned custody amount.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62656"/>
            <a:ext cx="108813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6968" y="3163824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82112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488" y="3136392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Reserved prizes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136392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Each draw consumes verified sponsor funds so assets cannot fund repeated awards.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776472"/>
            <a:ext cx="10881360" cy="694944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968" y="3977639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995927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" y="3950208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Complete liabilities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3950208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Winner credit enters both the encrypted position and aggregate at finalization.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590288"/>
            <a:ext cx="108813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6968" y="4791455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09743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8488" y="4764024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Bound draw proofs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4764024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KMS evidence must match the stored aggregate and reserve handles.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404103"/>
            <a:ext cx="10881360" cy="694944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6968" y="5605271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623559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18488" y="5577840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Timeout recovery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5577840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Anyone can release a stale draw lock after the 24-hour cancellation delay.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08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VERIFIED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A real 1 cUSDC Sepolia lifecycle—not a simulated receipt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19072"/>
            <a:ext cx="1033272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D6E8E"/>
                </a:solidFill>
                <a:latin typeface="Liberation Sans"/>
              </a:rPr>
              <a:t>Each transaction below links directly to its confirmed block-explorer record.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87168"/>
            <a:ext cx="3401568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86968" y="2724912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743200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246120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cUSDC deposit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5876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2"/>
              </a:rPr>
              <a:t>0x36f81f…fa87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0740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87F5B"/>
                </a:solidFill>
                <a:latin typeface="Liberation Sans"/>
              </a:rPr>
              <a:t>Encrypted position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1688" y="2487168"/>
            <a:ext cx="3401568" cy="2542032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90288" y="2724912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2743200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246120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Direct withdrawal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385876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3"/>
              </a:rPr>
              <a:t>0x8ee0e4…8429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440740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87F5B"/>
                </a:solidFill>
                <a:latin typeface="Liberation Sans"/>
              </a:rPr>
              <a:t>Wallet restored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5008" y="2487168"/>
            <a:ext cx="3401568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93608" y="2724912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2743200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3246120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Sponsor reserve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85876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4"/>
              </a:rPr>
              <a:t>0x07b797…7eaa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440740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87F5B"/>
                </a:solidFill>
                <a:latin typeface="Liberation Sans"/>
              </a:rPr>
              <a:t>Encrypted prize funds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11680" y="5349240"/>
            <a:ext cx="8183879" cy="502920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48840" y="5486400"/>
            <a:ext cx="790956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87F5B"/>
                </a:solidFill>
                <a:latin typeface="Liberation Sans"/>
              </a:rPr>
              <a:t>Round trip restored 10 cUSDC · later sponsor funding moved 1 cUSDC into reserve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Full hashes and runtime evidence: docs/operations/sepolia-deployment.md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09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ENGINEERING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Reproducible tests—and durable live infrastructure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3749039" cy="3520440"/>
          </a:xfrm>
          <a:prstGeom prst="roundRect">
            <a:avLst/>
          </a:prstGeom>
          <a:solidFill>
            <a:srgbClr val="18359F"/>
          </a:solidFill>
          <a:ln w="12700">
            <a:solidFill>
              <a:srgbClr val="183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320040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Liberation Sans"/>
              </a:rPr>
              <a:t>FULL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66160"/>
            <a:ext cx="320040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CDDAFF"/>
                </a:solidFill>
                <a:latin typeface="Liberation Mono"/>
              </a:rPr>
              <a:t>VALIDATION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320040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Liberation Sans"/>
              </a:rPr>
              <a:t>Foundry contracts · backend API/indexer
client encryption · frontend UX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2148840"/>
            <a:ext cx="6812280" cy="93268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2368296"/>
            <a:ext cx="1188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1F37"/>
                </a:solidFill>
                <a:latin typeface="Liberation Sans"/>
              </a:rPr>
              <a:t>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68296"/>
            <a:ext cx="25146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React frontend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2450592"/>
            <a:ext cx="17830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54312" y="2468880"/>
            <a:ext cx="16367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PRODUCTION UI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3319272"/>
            <a:ext cx="68122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3538728"/>
            <a:ext cx="1188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1F37"/>
                </a:solidFill>
                <a:latin typeface="Liberation Sans"/>
              </a:rPr>
              <a:t>Render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538728"/>
            <a:ext cx="25146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Node indexer/API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3621024"/>
            <a:ext cx="17830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3639312"/>
            <a:ext cx="16367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PUBLIC 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4489704"/>
            <a:ext cx="6812280" cy="93268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3480" y="4709160"/>
            <a:ext cx="1188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1F37"/>
                </a:solidFill>
                <a:latin typeface="Liberation Sans"/>
              </a:rPr>
              <a:t>Neon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09160"/>
            <a:ext cx="25146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PostgreSQL checkpoint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791456"/>
            <a:ext cx="17830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809744"/>
            <a:ext cx="16367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RESTART RECOVERY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9160" y="5577840"/>
            <a:ext cx="6812280" cy="411480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92040" y="5669280"/>
            <a:ext cx="640080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87F5B"/>
                </a:solidFill>
                <a:latin typeface="Liberation Sans"/>
              </a:rPr>
              <a:t>Indexer checkpoint restored successfully after a live service restart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10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143000"/>
            <a:ext cx="23317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161288"/>
            <a:ext cx="2185415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OPEN RESEARCH · VERIFIABLE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45920"/>
            <a:ext cx="7132320" cy="1371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800" b="1">
                <a:solidFill>
                  <a:srgbClr val="141F37"/>
                </a:solidFill>
                <a:latin typeface="Liberation Sans"/>
              </a:rPr>
              <a:t>Confidential savings,
</a:t>
            </a:r>
            <a:r>
              <a:rPr sz="3800" b="1">
                <a:solidFill>
                  <a:srgbClr val="3157F6"/>
                </a:solidFill>
                <a:latin typeface="Liberation Sans"/>
              </a:rPr>
              <a:t>without blind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7560"/>
            <a:ext cx="649224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D6E8E"/>
                </a:solidFill>
                <a:latin typeface="Liberation Sans"/>
              </a:rPr>
              <a:t>Try the live app. Inspect the active Sepolia deployment. Review every invariant and test.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4114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157F6"/>
                </a:solidFill>
                <a:latin typeface="Liberation Mono"/>
              </a:rPr>
              <a:t/>
            </a:r>
            <a:r>
              <a:rPr sz="1400" b="1">
                <a:solidFill>
                  <a:srgbClr val="3157F6"/>
                </a:solidFill>
                <a:latin typeface="Liberation Mono"/>
                <a:hlinkClick r:id="rId2"/>
              </a:rPr>
              <a:t>cipherpool-beta.vercel.app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36592"/>
            <a:ext cx="603504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3157F6"/>
                </a:solidFill>
                <a:latin typeface="Liberation Mono"/>
              </a:rPr>
              <a:t/>
            </a:r>
            <a:r>
              <a:rPr sz="1100" b="1">
                <a:solidFill>
                  <a:srgbClr val="3157F6"/>
                </a:solidFill>
                <a:latin typeface="Liberation Mono"/>
                <a:hlinkClick r:id="rId3"/>
              </a:rPr>
              <a:t>github.com/Webghost01-NG/fhevm-pooltogether-security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417320"/>
            <a:ext cx="3429000" cy="425196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25603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ACTIVE POOL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331720"/>
            <a:ext cx="2560320" cy="2057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41F37"/>
                </a:solidFill>
                <a:latin typeface="Liberation Mono"/>
              </a:rPr>
              <a:t>0xE47eF44E
BB804A50
7173BEFa
5beb2325
aA7451AD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4800600"/>
            <a:ext cx="146304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4818888"/>
            <a:ext cx="131673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ETHEREUM SEPOLIA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CipherPool · Zama fhEVM · Research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CipherPool — Private Prize Savings</dc:title>
  <dc:subject>Verified Zama fhEVM research deployment showcase</dc:subject>
  <dc:creator>CipherPool contributors</dc:creator>
  <cp:keywords/>
  <dc:description>Generated from repository-verified facts; no fabricated transactions or production claims.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