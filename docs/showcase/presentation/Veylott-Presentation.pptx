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eylott-git-feat-veylott-rebrand-webghost01-ngs-projects.vercel.app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epolia.etherscan.io/tx/0xe36db7ad47a927811971b56166ced5dd5ffa388d368f54623d09d7124ca8b39f" TargetMode="External"/><Relationship Id="rId3" Type="http://schemas.openxmlformats.org/officeDocument/2006/relationships/hyperlink" Target="https://sepolia.etherscan.io/tx/0x504862de2aa5ad002f2314ea834b5336d394e9bf111c5652bb16c8700a1ece6c" TargetMode="External"/><Relationship Id="rId4" Type="http://schemas.openxmlformats.org/officeDocument/2006/relationships/hyperlink" Target="https://sepolia.etherscan.io/tx/0x5763bef70ffc5954c640cb1b5c39cad4bf8a56e45b37caa09e55b861184bc969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eylott-git-feat-veylott-rebrand-webghost01-ngs-projects.vercel.app/" TargetMode="External"/><Relationship Id="rId3" Type="http://schemas.openxmlformats.org/officeDocument/2006/relationships/hyperlink" Target="https://github.com/Webghost01-NG/veylot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310896" cy="310896"/>
          </a:xfrm>
          <a:prstGeom prst="roundRect">
            <a:avLst/>
          </a:prstGeom>
          <a:solidFill>
            <a:srgbClr val="3157F6"/>
          </a:solidFill>
          <a:ln w="12700">
            <a:solidFill>
              <a:srgbClr val="315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0603"/>
            <a:ext cx="310896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Liberation Sans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74320"/>
            <a:ext cx="1371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F37"/>
                </a:solidFill>
                <a:latin typeface="Liberation Sans"/>
              </a:rPr>
              <a:t>Veylott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310896"/>
            <a:ext cx="3337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RESEARCH DEPLOYMENT · ETHEREUM SEPOLIA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3968" y="310896"/>
            <a:ext cx="49377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01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051560"/>
            <a:ext cx="246888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069848"/>
            <a:ext cx="232257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ZAMA FHEVM · CONFIDENTIAL 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572768"/>
            <a:ext cx="6675120" cy="1600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600" b="1">
                <a:solidFill>
                  <a:srgbClr val="141F37"/>
                </a:solidFill>
                <a:latin typeface="Liberation Sans"/>
              </a:rPr>
              <a:t>Private prize savings,
</a:t>
            </a:r>
            <a:r>
              <a:rPr sz="3600" b="1">
                <a:solidFill>
                  <a:srgbClr val="3157F6"/>
                </a:solidFill>
                <a:latin typeface="Liberation Sans"/>
              </a:rPr>
              <a:t>built for verification.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64992"/>
            <a:ext cx="5989320" cy="6217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5D6E8E"/>
                </a:solidFill>
                <a:latin typeface="Liberation Sans"/>
              </a:rPr>
              <a:t>Principal stays withdrawable while encrypted balances and ticket weights stay confidential.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24528"/>
            <a:ext cx="38404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157F6"/>
                </a:solidFill>
                <a:latin typeface="Liberation Mono"/>
              </a:rPr>
              <a:t/>
            </a:r>
            <a:r>
              <a:rPr sz="1200" b="1">
                <a:solidFill>
                  <a:srgbClr val="3157F6"/>
                </a:solidFill>
                <a:latin typeface="Liberation Mono"/>
                <a:hlinkClick r:id="rId2"/>
              </a:rPr>
              <a:t>Open the Veylott live demo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188720"/>
            <a:ext cx="3840480" cy="4480560"/>
          </a:xfrm>
          <a:prstGeom prst="roundRect">
            <a:avLst/>
          </a:prstGeom>
          <a:solidFill>
            <a:srgbClr val="18359F"/>
          </a:solidFill>
          <a:ln w="12700">
            <a:solidFill>
              <a:srgbClr val="183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92440" y="1627632"/>
            <a:ext cx="2423160" cy="2423160"/>
          </a:xfrm>
          <a:prstGeom prst="ellipse">
            <a:avLst/>
          </a:prstGeom>
          <a:solidFill>
            <a:srgbClr val="3F5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58200" y="1993392"/>
            <a:ext cx="1691640" cy="1691640"/>
          </a:xfrm>
          <a:prstGeom prst="ellipse">
            <a:avLst/>
          </a:prstGeom>
          <a:solidFill>
            <a:srgbClr val="547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823960" y="2359152"/>
            <a:ext cx="960120" cy="960120"/>
          </a:xfrm>
          <a:prstGeom prst="ellipse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14816" y="2761488"/>
            <a:ext cx="1005840" cy="457200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Liberation Sans"/>
              </a:rPr>
              <a:t>FHE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526280"/>
            <a:ext cx="29260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CDDAFF"/>
                </a:solidFill>
                <a:latin typeface="Liberation Mono"/>
              </a:rPr>
              <a:t>PUBLIC CUSTODY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846320"/>
            <a:ext cx="292608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Liberation Sans"/>
              </a:rPr>
              <a:t>PRIVATE ACCOUNTING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349240"/>
            <a:ext cx="2468880" cy="292608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FFF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5367527"/>
            <a:ext cx="232257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915200"/>
                </a:solidFill>
                <a:latin typeface="Liberation Sans"/>
              </a:rPr>
              <a:t>RESEARCH SOFTWARE · NOT 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110642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Verified claims and links: docs/showcase/SUBMISSION_OVERVIEW.md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310896" cy="310896"/>
          </a:xfrm>
          <a:prstGeom prst="roundRect">
            <a:avLst/>
          </a:prstGeom>
          <a:solidFill>
            <a:srgbClr val="3157F6"/>
          </a:solidFill>
          <a:ln w="12700">
            <a:solidFill>
              <a:srgbClr val="315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0603"/>
            <a:ext cx="310896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Liberation Sans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74320"/>
            <a:ext cx="1371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F37"/>
                </a:solidFill>
                <a:latin typeface="Liberation Sans"/>
              </a:rPr>
              <a:t>Veylott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310896"/>
            <a:ext cx="3337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RESEARCH DEPLOYMENT · ETHEREUM SEPOLIA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3968" y="310896"/>
            <a:ext cx="49377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02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58952"/>
            <a:ext cx="50292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Mono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005840"/>
            <a:ext cx="1097280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F37"/>
                </a:solidFill>
                <a:latin typeface="Liberation Sans"/>
              </a:rPr>
              <a:t>Public ledgers expose private financial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19072"/>
            <a:ext cx="1033272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E8E"/>
                </a:solidFill>
                <a:latin typeface="Liberation Sans"/>
              </a:rPr>
              <a:t>Auditability should not require publishing every saver’s position.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423160"/>
            <a:ext cx="35661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651760"/>
            <a:ext cx="566928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670048"/>
            <a:ext cx="420623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36391"/>
            <a:ext cx="310896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1F37"/>
                </a:solidFill>
                <a:latin typeface="Liberation Sans"/>
              </a:rPr>
              <a:t>Balance exposure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21608"/>
            <a:ext cx="3108960" cy="1737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Wallet history can reveal a saver’s position, deposits, withdrawals, and changing financial behavior.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2423160"/>
            <a:ext cx="35661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44568" y="2651760"/>
            <a:ext cx="566928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670048"/>
            <a:ext cx="420623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136391"/>
            <a:ext cx="310896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1F37"/>
                </a:solidFill>
                <a:latin typeface="Liberation Sans"/>
              </a:rPr>
              <a:t>Visible ticket weights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721608"/>
            <a:ext cx="3108960" cy="1737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Transparent weights make whale activity easy to track and can disclose each participant’s relative odds.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7575" y="2423160"/>
            <a:ext cx="35661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66175" y="2651760"/>
            <a:ext cx="566928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2670048"/>
            <a:ext cx="420623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5" y="3136391"/>
            <a:ext cx="310896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1F37"/>
                </a:solidFill>
                <a:latin typeface="Liberation Sans"/>
              </a:rPr>
              <a:t>Timing reveals intent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3721608"/>
            <a:ext cx="3108960" cy="1737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Pending deposits and last-minute entries expose behavior around a prize round before it settles.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10528"/>
            <a:ext cx="110642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Verified claims and links: docs/showcase/SUBMISSION_OVERVIEW.md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310896" cy="310896"/>
          </a:xfrm>
          <a:prstGeom prst="roundRect">
            <a:avLst/>
          </a:prstGeom>
          <a:solidFill>
            <a:srgbClr val="3157F6"/>
          </a:solidFill>
          <a:ln w="12700">
            <a:solidFill>
              <a:srgbClr val="315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0603"/>
            <a:ext cx="310896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Liberation Sans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74320"/>
            <a:ext cx="1371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F37"/>
                </a:solidFill>
                <a:latin typeface="Liberation Sans"/>
              </a:rPr>
              <a:t>Veylott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310896"/>
            <a:ext cx="3337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RESEARCH DEPLOYMENT · ETHEREUM SEPOLIA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3968" y="310896"/>
            <a:ext cx="49377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03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58952"/>
            <a:ext cx="50292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Mono"/>
              </a:rPr>
              <a:t>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005840"/>
            <a:ext cx="1097280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F37"/>
                </a:solidFill>
                <a:latin typeface="Liberation Sans"/>
              </a:rPr>
              <a:t>Public custody. Confidential accounting.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19072"/>
            <a:ext cx="1033272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E8E"/>
                </a:solidFill>
                <a:latin typeface="Liberation Sans"/>
              </a:rPr>
              <a:t>Veylott separates what must be auditable from what should remain private.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331720"/>
            <a:ext cx="52578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2624328"/>
            <a:ext cx="2240280" cy="292608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642616"/>
            <a:ext cx="209397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87F5B"/>
                </a:solidFill>
                <a:latin typeface="Liberation Sans"/>
              </a:rPr>
              <a:t>PUBLIC · INDEPENDENTLY VERIFIABLE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127248"/>
            <a:ext cx="42976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41F37"/>
                </a:solidFill>
                <a:latin typeface="Liberation Sans"/>
              </a:rPr>
              <a:t>Custody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703320"/>
            <a:ext cx="4251960" cy="1463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D6E8E"/>
                </a:solidFill>
                <a:latin typeface="Liberation Sans"/>
              </a:rPr>
              <a:t>• Deposited testnet cUSDC
• Contract and custody bindings
• Transaction receipts
• Aggregate solvency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596128" y="3520440"/>
            <a:ext cx="1005840" cy="640080"/>
          </a:xfrm>
          <a:prstGeom prst="rightArrow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2331720"/>
            <a:ext cx="5257800" cy="3337560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B2C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0" y="2624328"/>
            <a:ext cx="214884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2642616"/>
            <a:ext cx="200253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ENCRYPTED · WALLET-AUTHORIZED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127248"/>
            <a:ext cx="429768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41F37"/>
                </a:solidFill>
                <a:latin typeface="Liberation Sans"/>
              </a:rPr>
              <a:t>Privacy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03320"/>
            <a:ext cx="4251960" cy="1463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D6E8E"/>
                </a:solidFill>
                <a:latin typeface="Liberation Sans"/>
              </a:rPr>
              <a:t>• Running balances as euint64
• Weighted draw intervals
• Prize credits
• Local balance reveal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110642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Verified claims and links: docs/showcase/SUBMISSION_OVERVIEW.md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310896" cy="310896"/>
          </a:xfrm>
          <a:prstGeom prst="roundRect">
            <a:avLst/>
          </a:prstGeom>
          <a:solidFill>
            <a:srgbClr val="3157F6"/>
          </a:solidFill>
          <a:ln w="12700">
            <a:solidFill>
              <a:srgbClr val="315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0603"/>
            <a:ext cx="310896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Liberation Sans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74320"/>
            <a:ext cx="1371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F37"/>
                </a:solidFill>
                <a:latin typeface="Liberation Sans"/>
              </a:rPr>
              <a:t>Veylott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310896"/>
            <a:ext cx="3337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RESEARCH DEPLOYMENT · ETHEREUM SEPOLIA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3968" y="310896"/>
            <a:ext cx="49377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04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58952"/>
            <a:ext cx="50292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Mono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005840"/>
            <a:ext cx="1097280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F37"/>
                </a:solidFill>
                <a:latin typeface="Liberation Sans"/>
              </a:rPr>
              <a:t>A verifiable path from wallet to confidential settlement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1828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1" y="2514600"/>
            <a:ext cx="50292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3" y="2532888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953512"/>
            <a:ext cx="149961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F37"/>
                </a:solidFill>
                <a:latin typeface="Liberation Sans"/>
              </a:rPr>
              <a:t>React client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355848"/>
            <a:ext cx="149961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D6E8E"/>
                </a:solidFill>
                <a:latin typeface="Liberation Sans"/>
              </a:rPr>
              <a:t>Encrypts input
Requests wallet signature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2331720"/>
            <a:ext cx="1828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136392" y="2514600"/>
            <a:ext cx="50292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9544" y="2532888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6392" y="2953512"/>
            <a:ext cx="149961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F37"/>
                </a:solidFill>
                <a:latin typeface="Liberation Sans"/>
              </a:rPr>
              <a:t>Official cUSDC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6392" y="3355848"/>
            <a:ext cx="149961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D6E8E"/>
                </a:solidFill>
                <a:latin typeface="Liberation Sans"/>
              </a:rPr>
              <a:t>Moves encrypted assets
Returns actual transfer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2331720"/>
            <a:ext cx="2011680" cy="1600200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68112" y="2514600"/>
            <a:ext cx="50292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41264" y="2532888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68112" y="2953512"/>
            <a:ext cx="168249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F37"/>
                </a:solidFill>
                <a:latin typeface="Liberation Sans"/>
              </a:rPr>
              <a:t>ConfidentialPool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8112" y="3355848"/>
            <a:ext cx="168249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D6E8E"/>
                </a:solidFill>
                <a:latin typeface="Liberation Sans"/>
              </a:rPr>
              <a:t>Owns encrypted positions
Reserve + draw state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331720"/>
            <a:ext cx="2240280" cy="1600200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94192" y="2514600"/>
            <a:ext cx="50292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67344" y="2532888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953512"/>
            <a:ext cx="191109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F37"/>
                </a:solidFill>
                <a:latin typeface="Liberation Sans"/>
              </a:rPr>
              <a:t>Zama relayer + KMS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355848"/>
            <a:ext cx="191109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D6E8E"/>
                </a:solidFill>
                <a:latin typeface="Liberation Sans"/>
              </a:rPr>
              <a:t>Prepares authorized proofs
Verifies public snapshots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4800600"/>
            <a:ext cx="2011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68112" y="4983480"/>
            <a:ext cx="50292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41264" y="5001768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8112" y="5422392"/>
            <a:ext cx="168249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F37"/>
                </a:solidFill>
                <a:latin typeface="Liberation Sans"/>
              </a:rPr>
              <a:t>Indexer + PostgreSQL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68112" y="5824728"/>
            <a:ext cx="168249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D6E8E"/>
                </a:solidFill>
                <a:latin typeface="Liberation Sans"/>
              </a:rPr>
              <a:t>Observes public events
Persists checkpoints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74519" y="4800600"/>
            <a:ext cx="2011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039112" y="4983480"/>
            <a:ext cx="50292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12264" y="5001768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39112" y="5422392"/>
            <a:ext cx="1682496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F37"/>
                </a:solidFill>
                <a:latin typeface="Liberation Sans"/>
              </a:rPr>
              <a:t>Sponsor wallet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39112" y="5824728"/>
            <a:ext cx="1682496" cy="4389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D6E8E"/>
                </a:solidFill>
                <a:latin typeface="Liberation Sans"/>
              </a:rPr>
              <a:t>Transfers encrypted cUSDC
into the prize reserve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468880" y="3127248"/>
            <a:ext cx="502920" cy="0"/>
          </a:xfrm>
          <a:prstGeom prst="line">
            <a:avLst/>
          </a:prstGeom>
          <a:ln w="25400">
            <a:solidFill>
              <a:srgbClr val="315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800600" y="3127248"/>
            <a:ext cx="502920" cy="0"/>
          </a:xfrm>
          <a:prstGeom prst="line">
            <a:avLst/>
          </a:prstGeom>
          <a:ln w="25400">
            <a:solidFill>
              <a:srgbClr val="315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315200" y="3127248"/>
            <a:ext cx="914400" cy="0"/>
          </a:xfrm>
          <a:prstGeom prst="line">
            <a:avLst/>
          </a:prstGeom>
          <a:ln w="25400">
            <a:solidFill>
              <a:srgbClr val="315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309360" y="3931920"/>
            <a:ext cx="0" cy="868680"/>
          </a:xfrm>
          <a:prstGeom prst="line">
            <a:avLst/>
          </a:prstGeom>
          <a:ln w="25400">
            <a:solidFill>
              <a:srgbClr val="315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886200" y="3703320"/>
            <a:ext cx="1417320" cy="1892808"/>
          </a:xfrm>
          <a:prstGeom prst="line">
            <a:avLst/>
          </a:prstGeom>
          <a:ln w="25400">
            <a:solidFill>
              <a:srgbClr val="315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229600" y="4800600"/>
            <a:ext cx="2240280" cy="914400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94192" y="5029200"/>
            <a:ext cx="192024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087F5B"/>
                </a:solidFill>
                <a:latin typeface="Liberation Sans"/>
              </a:rPr>
              <a:t>Public: custody + receipts
Private: positions + winner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510528"/>
            <a:ext cx="110642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Verified claims and links: docs/showcase/SUBMISSION_OVERVIEW.md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310896" cy="310896"/>
          </a:xfrm>
          <a:prstGeom prst="roundRect">
            <a:avLst/>
          </a:prstGeom>
          <a:solidFill>
            <a:srgbClr val="3157F6"/>
          </a:solidFill>
          <a:ln w="12700">
            <a:solidFill>
              <a:srgbClr val="315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0603"/>
            <a:ext cx="310896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Liberation Sans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74320"/>
            <a:ext cx="1371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F37"/>
                </a:solidFill>
                <a:latin typeface="Liberation Sans"/>
              </a:rPr>
              <a:t>Veylott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310896"/>
            <a:ext cx="3337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RESEARCH DEPLOYMENT · ETHEREUM SEPOLIA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3968" y="310896"/>
            <a:ext cx="49377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05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58952"/>
            <a:ext cx="50292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Mono"/>
              </a:rPr>
              <a:t>LIVE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005840"/>
            <a:ext cx="1097280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F37"/>
                </a:solidFill>
                <a:latin typeface="Liberation Sans"/>
              </a:rPr>
              <a:t>The console is live—and honest about connection state</a:t>
            </a:r>
          </a:p>
        </p:txBody>
      </p:sp>
      <p:pic>
        <p:nvPicPr>
          <p:cNvPr id="10" name="Picture 9" descr="liv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74519"/>
            <a:ext cx="8001000" cy="4572000"/>
          </a:xfrm>
          <a:prstGeom prst="rect">
            <a:avLst/>
          </a:prstGeom>
          <a:ln w="12700">
            <a:solidFill>
              <a:srgbClr val="CFD9F1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887968" y="1874519"/>
            <a:ext cx="2697480" cy="4572000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62288" y="2167128"/>
            <a:ext cx="141732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2185416"/>
            <a:ext cx="12710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PRODUCTION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2288" y="2743200"/>
            <a:ext cx="205740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41F37"/>
                </a:solidFill>
                <a:latin typeface="Liberation Sans"/>
              </a:rPr>
              <a:t>Clear wallet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3273552"/>
            <a:ext cx="2011680" cy="12344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D6E8E"/>
                </a:solidFill>
                <a:latin typeface="Liberation Sans"/>
              </a:rPr>
              <a:t>A disconnected user sees only Connect wallet. An address appears only after the provider returns the selected account.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2288" y="4754880"/>
            <a:ext cx="20574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F37"/>
                </a:solidFill>
                <a:latin typeface="Liberation Sans"/>
              </a:rPr>
              <a:t>Runtime assurance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5166360"/>
            <a:ext cx="2011680" cy="8229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Chain, bytecode, and custody bindings are checked before protocol writes.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10528"/>
            <a:ext cx="110642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Captured from the Veylott live demo · 4 Sep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310896" cy="310896"/>
          </a:xfrm>
          <a:prstGeom prst="roundRect">
            <a:avLst/>
          </a:prstGeom>
          <a:solidFill>
            <a:srgbClr val="3157F6"/>
          </a:solidFill>
          <a:ln w="12700">
            <a:solidFill>
              <a:srgbClr val="315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0603"/>
            <a:ext cx="310896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Liberation Sans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74320"/>
            <a:ext cx="1371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F37"/>
                </a:solidFill>
                <a:latin typeface="Liberation Sans"/>
              </a:rPr>
              <a:t>Veylott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310896"/>
            <a:ext cx="3337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RESEARCH DEPLOYMENT · ETHEREUM SEPOLIA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3968" y="310896"/>
            <a:ext cx="49377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06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58952"/>
            <a:ext cx="50292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Mono"/>
              </a:rPr>
              <a:t>USER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005840"/>
            <a:ext cx="1097280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F37"/>
                </a:solidFill>
                <a:latin typeface="Liberation Sans"/>
              </a:rPr>
              <a:t>Four explicit steps. No hidden signing.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23317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578608"/>
            <a:ext cx="530352" cy="530352"/>
          </a:xfrm>
          <a:prstGeom prst="ellipse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60904"/>
            <a:ext cx="530352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iberation Mon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83280"/>
            <a:ext cx="1874519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41F37"/>
                </a:solidFill>
                <a:latin typeface="Liberation Sans"/>
              </a:rPr>
              <a:t>Shield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69080"/>
            <a:ext cx="1874519" cy="11430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Wrap test USDC into confidential cUSDC with Zama's official Sepolia wrapper.</a:t>
            </a:r>
          </a:p>
        </p:txBody>
      </p:sp>
      <p:sp>
        <p:nvSpPr>
          <p:cNvPr id="15" name="Chevron 14"/>
          <p:cNvSpPr/>
          <p:nvPr/>
        </p:nvSpPr>
        <p:spPr>
          <a:xfrm>
            <a:off x="3054096" y="3520440"/>
            <a:ext cx="320040" cy="502920"/>
          </a:xfrm>
          <a:prstGeom prst="chevron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74720" y="2286000"/>
            <a:ext cx="2331720" cy="3383280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03320" y="2578608"/>
            <a:ext cx="530352" cy="530352"/>
          </a:xfrm>
          <a:prstGeom prst="ellipse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2660904"/>
            <a:ext cx="530352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iberation Mon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383280"/>
            <a:ext cx="1874519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41F37"/>
                </a:solidFill>
                <a:latin typeface="Liberation Sans"/>
              </a:rPr>
              <a:t>Save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069080"/>
            <a:ext cx="1874519" cy="11430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Deposit an encrypted cUSDC amount; the pool credits only the token-returned result.</a:t>
            </a:r>
          </a:p>
        </p:txBody>
      </p:sp>
      <p:sp>
        <p:nvSpPr>
          <p:cNvPr id="21" name="Chevron 20"/>
          <p:cNvSpPr/>
          <p:nvPr/>
        </p:nvSpPr>
        <p:spPr>
          <a:xfrm>
            <a:off x="5888736" y="3520440"/>
            <a:ext cx="320040" cy="502920"/>
          </a:xfrm>
          <a:prstGeom prst="chevron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2286000"/>
            <a:ext cx="23317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37960" y="2578608"/>
            <a:ext cx="530352" cy="530352"/>
          </a:xfrm>
          <a:prstGeom prst="ellipse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660904"/>
            <a:ext cx="530352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iberation Mono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383280"/>
            <a:ext cx="1874519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41F37"/>
                </a:solidFill>
                <a:latin typeface="Liberation Sans"/>
              </a:rPr>
              <a:t>Prize round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069080"/>
            <a:ext cx="1874519" cy="11430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Fund or monitor the sponsor reserve, then run a KMS-verified encrypted draw.</a:t>
            </a:r>
          </a:p>
        </p:txBody>
      </p:sp>
      <p:sp>
        <p:nvSpPr>
          <p:cNvPr id="27" name="Chevron 26"/>
          <p:cNvSpPr/>
          <p:nvPr/>
        </p:nvSpPr>
        <p:spPr>
          <a:xfrm>
            <a:off x="8723376" y="3520440"/>
            <a:ext cx="320040" cy="502920"/>
          </a:xfrm>
          <a:prstGeom prst="chevron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0" y="2286000"/>
            <a:ext cx="2331720" cy="3383280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72600" y="2578608"/>
            <a:ext cx="530352" cy="530352"/>
          </a:xfrm>
          <a:prstGeom prst="ellipse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2660904"/>
            <a:ext cx="530352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Liberation Mono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3383280"/>
            <a:ext cx="1874519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41F37"/>
                </a:solidFill>
                <a:latin typeface="Liberation Sans"/>
              </a:rPr>
              <a:t>Withdraw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4069080"/>
            <a:ext cx="1874519" cy="11430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Submit an encrypted amount; accounting follows the token-returned transfer result.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10528"/>
            <a:ext cx="110642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Verified claims and links: docs/showcase/SUBMISSION_OVERVIEW.md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310896" cy="310896"/>
          </a:xfrm>
          <a:prstGeom prst="roundRect">
            <a:avLst/>
          </a:prstGeom>
          <a:solidFill>
            <a:srgbClr val="3157F6"/>
          </a:solidFill>
          <a:ln w="12700">
            <a:solidFill>
              <a:srgbClr val="315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0603"/>
            <a:ext cx="310896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Liberation Sans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74320"/>
            <a:ext cx="1371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F37"/>
                </a:solidFill>
                <a:latin typeface="Liberation Sans"/>
              </a:rPr>
              <a:t>Veylott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310896"/>
            <a:ext cx="3337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RESEARCH DEPLOYMENT · ETHEREUM SEPOLIA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3968" y="310896"/>
            <a:ext cx="49377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07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58952"/>
            <a:ext cx="50292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Mono"/>
              </a:rPr>
              <a:t>SECURITY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005840"/>
            <a:ext cx="1097280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F37"/>
                </a:solidFill>
                <a:latin typeface="Liberation Sans"/>
              </a:rPr>
              <a:t>Solvency and settlement invariants are enforced in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48840"/>
            <a:ext cx="10881360" cy="694944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6968" y="2350008"/>
            <a:ext cx="502920" cy="292608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68296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87F5B"/>
                </a:solidFill>
                <a:latin typeface="Liberation Sa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2322576"/>
            <a:ext cx="23317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F37"/>
                </a:solidFill>
                <a:latin typeface="Liberation Sans"/>
              </a:rPr>
              <a:t>Asset-bound credit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322576"/>
            <a:ext cx="722376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Encrypted deposit credit is derived from the token-returned custody amount.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962656"/>
            <a:ext cx="108813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6968" y="3163824"/>
            <a:ext cx="502920" cy="292608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182112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87F5B"/>
                </a:solidFill>
                <a:latin typeface="Liberation San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3136392"/>
            <a:ext cx="23317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F37"/>
                </a:solidFill>
                <a:latin typeface="Liberation Sans"/>
              </a:rPr>
              <a:t>Reserved prizes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136392"/>
            <a:ext cx="722376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Each draw consumes verified sponsor funds so assets cannot fund repeated awards.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776472"/>
            <a:ext cx="10881360" cy="694944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6968" y="3977639"/>
            <a:ext cx="502920" cy="292608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995927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87F5B"/>
                </a:solidFill>
                <a:latin typeface="Liberation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488" y="3950208"/>
            <a:ext cx="23317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F37"/>
                </a:solidFill>
                <a:latin typeface="Liberation Sans"/>
              </a:rPr>
              <a:t>Complete liabilities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3950208"/>
            <a:ext cx="722376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Winner credit enters both the encrypted position and aggregate at finalization.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590288"/>
            <a:ext cx="1088136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6968" y="4791455"/>
            <a:ext cx="502920" cy="292608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809743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87F5B"/>
                </a:solidFill>
                <a:latin typeface="Liberation San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8488" y="4764024"/>
            <a:ext cx="23317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F37"/>
                </a:solidFill>
                <a:latin typeface="Liberation Sans"/>
              </a:rPr>
              <a:t>Bound draw proofs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4764024"/>
            <a:ext cx="722376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KMS evidence must match the stored aggregate and reserve handles.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404103"/>
            <a:ext cx="10881360" cy="694944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86968" y="5605271"/>
            <a:ext cx="502920" cy="292608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623559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87F5B"/>
                </a:solidFill>
                <a:latin typeface="Liberation San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18488" y="5577840"/>
            <a:ext cx="2331720" cy="31089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41F37"/>
                </a:solidFill>
                <a:latin typeface="Liberation Sans"/>
              </a:rPr>
              <a:t>Timeout recovery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5577840"/>
            <a:ext cx="722376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D6E8E"/>
                </a:solidFill>
                <a:latin typeface="Liberation Sans"/>
              </a:rPr>
              <a:t>Anyone can release a stale draw lock after the 24-hour cancellation delay.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10528"/>
            <a:ext cx="110642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Verified claims and links: docs/showcase/SUBMISSION_OVERVIEW.md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310896" cy="310896"/>
          </a:xfrm>
          <a:prstGeom prst="roundRect">
            <a:avLst/>
          </a:prstGeom>
          <a:solidFill>
            <a:srgbClr val="3157F6"/>
          </a:solidFill>
          <a:ln w="12700">
            <a:solidFill>
              <a:srgbClr val="315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0603"/>
            <a:ext cx="310896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Liberation Sans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74320"/>
            <a:ext cx="1371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F37"/>
                </a:solidFill>
                <a:latin typeface="Liberation Sans"/>
              </a:rPr>
              <a:t>Veylott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310896"/>
            <a:ext cx="3337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RESEARCH DEPLOYMENT · ETHEREUM SEPOLIA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3968" y="310896"/>
            <a:ext cx="49377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08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58952"/>
            <a:ext cx="50292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Mono"/>
              </a:rPr>
              <a:t>VERIFIED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005840"/>
            <a:ext cx="1097280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F37"/>
                </a:solidFill>
                <a:latin typeface="Liberation Sans"/>
              </a:rPr>
              <a:t>A completed historical prize round—not a simulated receipt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19072"/>
            <a:ext cx="1033272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E8E"/>
                </a:solidFill>
                <a:latin typeface="Liberation Sans"/>
              </a:rPr>
              <a:t>Each transaction below links directly to its confirmed predecessor-deployment receipt.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487168"/>
            <a:ext cx="3401568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86968" y="2724912"/>
            <a:ext cx="50292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43200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246120"/>
            <a:ext cx="283464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1F37"/>
                </a:solidFill>
                <a:latin typeface="Liberation Sans"/>
              </a:rPr>
              <a:t>cUSDC deposit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58768"/>
            <a:ext cx="2743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157F6"/>
                </a:solidFill>
                <a:latin typeface="Liberation Mono"/>
              </a:rPr>
              <a:t/>
            </a:r>
            <a:r>
              <a:rPr sz="1200" b="1">
                <a:solidFill>
                  <a:srgbClr val="3157F6"/>
                </a:solidFill>
                <a:latin typeface="Liberation Mono"/>
                <a:hlinkClick r:id="rId2"/>
              </a:rPr>
              <a:t>0xe36db7…b39f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407408"/>
            <a:ext cx="2743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87F5B"/>
                </a:solidFill>
                <a:latin typeface="Liberation Sans"/>
              </a:rPr>
              <a:t>Encrypted position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2487168"/>
            <a:ext cx="3401568" cy="2542032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90288" y="2724912"/>
            <a:ext cx="50292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743200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246120"/>
            <a:ext cx="283464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1F37"/>
                </a:solidFill>
                <a:latin typeface="Liberation Sans"/>
              </a:rPr>
              <a:t>KMS draw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3858768"/>
            <a:ext cx="2743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157F6"/>
                </a:solidFill>
                <a:latin typeface="Liberation Mono"/>
              </a:rPr>
              <a:t/>
            </a:r>
            <a:r>
              <a:rPr sz="1200" b="1">
                <a:solidFill>
                  <a:srgbClr val="3157F6"/>
                </a:solidFill>
                <a:latin typeface="Liberation Mono"/>
                <a:hlinkClick r:id="rId3"/>
              </a:rPr>
              <a:t>0x504862…ce6c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4407408"/>
            <a:ext cx="2743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87F5B"/>
                </a:solidFill>
                <a:latin typeface="Liberation Sans"/>
              </a:rPr>
              <a:t>Draw 1 finalized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5008" y="2487168"/>
            <a:ext cx="3401568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93608" y="2724912"/>
            <a:ext cx="50292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2743200"/>
            <a:ext cx="35661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3246120"/>
            <a:ext cx="2834640" cy="3657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41F37"/>
                </a:solidFill>
                <a:latin typeface="Liberation Sans"/>
              </a:rPr>
              <a:t>Private claim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3858768"/>
            <a:ext cx="2743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157F6"/>
                </a:solidFill>
                <a:latin typeface="Liberation Mono"/>
              </a:rPr>
              <a:t/>
            </a:r>
            <a:r>
              <a:rPr sz="1200" b="1">
                <a:solidFill>
                  <a:srgbClr val="3157F6"/>
                </a:solidFill>
                <a:latin typeface="Liberation Mono"/>
                <a:hlinkClick r:id="rId4"/>
              </a:rPr>
              <a:t>0x5763be…c969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4407408"/>
            <a:ext cx="2743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87F5B"/>
                </a:solidFill>
                <a:latin typeface="Liberation Sans"/>
              </a:rPr>
              <a:t>Ordinary withdrawal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5349240"/>
            <a:ext cx="8183879" cy="502920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48840" y="5486400"/>
            <a:ext cx="790956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87F5B"/>
                </a:solidFill>
                <a:latin typeface="Liberation Sans"/>
              </a:rPr>
              <a:t>Deposit → KMS draw → private claim → principal withdrawal · all confirmed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10528"/>
            <a:ext cx="110642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Full hashes and runtime evidence: docs/operations/sepolia-deployment.md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310896" cy="310896"/>
          </a:xfrm>
          <a:prstGeom prst="roundRect">
            <a:avLst/>
          </a:prstGeom>
          <a:solidFill>
            <a:srgbClr val="3157F6"/>
          </a:solidFill>
          <a:ln w="12700">
            <a:solidFill>
              <a:srgbClr val="315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0603"/>
            <a:ext cx="310896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Liberation Sans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74320"/>
            <a:ext cx="1371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F37"/>
                </a:solidFill>
                <a:latin typeface="Liberation Sans"/>
              </a:rPr>
              <a:t>Veylott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310896"/>
            <a:ext cx="3337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RESEARCH DEPLOYMENT · ETHEREUM SEPOLIA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3968" y="310896"/>
            <a:ext cx="49377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09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758952"/>
            <a:ext cx="502920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Mono"/>
              </a:rPr>
              <a:t>ENGINEERING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005840"/>
            <a:ext cx="10972800" cy="7132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41F37"/>
                </a:solidFill>
                <a:latin typeface="Liberation Sans"/>
              </a:rPr>
              <a:t>Reproducible tests—and durable live infrastructure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48840"/>
            <a:ext cx="3749039" cy="3520440"/>
          </a:xfrm>
          <a:prstGeom prst="roundRect">
            <a:avLst/>
          </a:prstGeom>
          <a:solidFill>
            <a:srgbClr val="18359F"/>
          </a:solidFill>
          <a:ln w="12700">
            <a:solidFill>
              <a:srgbClr val="183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3200400" cy="9144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Liberation Sans"/>
              </a:rPr>
              <a:t>FULL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320040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CDDAFF"/>
                </a:solidFill>
                <a:latin typeface="Liberation Mono"/>
              </a:rPr>
              <a:t>VALIDATION SUITE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87952"/>
            <a:ext cx="3200400" cy="9144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Liberation Sans"/>
              </a:rPr>
              <a:t>Foundry contracts · backend API/indexer
client encryption · frontend UX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2148840"/>
            <a:ext cx="6812280" cy="93268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2368296"/>
            <a:ext cx="11887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1F37"/>
                </a:solidFill>
                <a:latin typeface="Liberation Sans"/>
              </a:rPr>
              <a:t>Vercel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68296"/>
            <a:ext cx="25146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E8E"/>
                </a:solidFill>
                <a:latin typeface="Liberation Sans"/>
              </a:rPr>
              <a:t>React frontend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2450592"/>
            <a:ext cx="1783080" cy="292608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54312" y="2468880"/>
            <a:ext cx="163677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87F5B"/>
                </a:solidFill>
                <a:latin typeface="Liberation Sans"/>
              </a:rPr>
              <a:t>PRODUCTION UI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3319272"/>
            <a:ext cx="68122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3538728"/>
            <a:ext cx="11887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1F37"/>
                </a:solidFill>
                <a:latin typeface="Liberation Sans"/>
              </a:rPr>
              <a:t>Render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38728"/>
            <a:ext cx="25146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E8E"/>
                </a:solidFill>
                <a:latin typeface="Liberation Sans"/>
              </a:rPr>
              <a:t>Node indexer/API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3621024"/>
            <a:ext cx="1783080" cy="292608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54312" y="3639312"/>
            <a:ext cx="163677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87F5B"/>
                </a:solidFill>
                <a:latin typeface="Liberation Sans"/>
              </a:rPr>
              <a:t>PUBLIC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4489704"/>
            <a:ext cx="6812280" cy="93268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4709160"/>
            <a:ext cx="11887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1F37"/>
                </a:solidFill>
                <a:latin typeface="Liberation Sans"/>
              </a:rPr>
              <a:t>Neon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09160"/>
            <a:ext cx="25146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D6E8E"/>
                </a:solidFill>
                <a:latin typeface="Liberation Sans"/>
              </a:rPr>
              <a:t>PostgreSQL checkpoint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81160" y="4791456"/>
            <a:ext cx="1783080" cy="292608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54312" y="4809744"/>
            <a:ext cx="163677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87F5B"/>
                </a:solidFill>
                <a:latin typeface="Liberation Sans"/>
              </a:rPr>
              <a:t>RESTART RECOVERY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9160" y="5577840"/>
            <a:ext cx="6812280" cy="411480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5669280"/>
            <a:ext cx="6400800" cy="21031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87F5B"/>
                </a:solidFill>
                <a:latin typeface="Liberation Sans"/>
              </a:rPr>
              <a:t>Indexer checkpoint restored successfully after a live service restart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10528"/>
            <a:ext cx="110642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Verified claims and links: docs/showcase/SUBMISSION_OVERVIEW.md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0352" y="256032"/>
            <a:ext cx="310896" cy="310896"/>
          </a:xfrm>
          <a:prstGeom prst="roundRect">
            <a:avLst/>
          </a:prstGeom>
          <a:solidFill>
            <a:srgbClr val="3157F6"/>
          </a:solidFill>
          <a:ln w="12700">
            <a:solidFill>
              <a:srgbClr val="315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0603"/>
            <a:ext cx="310896" cy="25603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Liberation Sans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274320"/>
            <a:ext cx="1371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1F37"/>
                </a:solidFill>
                <a:latin typeface="Liberation Sans"/>
              </a:rPr>
              <a:t>Veylott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310896"/>
            <a:ext cx="33375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RESEARCH DEPLOYMENT · ETHEREUM SEPOLIA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3968" y="310896"/>
            <a:ext cx="493776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10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1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143000"/>
            <a:ext cx="2331720" cy="292608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EF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1161288"/>
            <a:ext cx="2185415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Sans"/>
              </a:rPr>
              <a:t>OPEN RESEARCH · VERIFIABLE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45920"/>
            <a:ext cx="7132320" cy="1371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800" b="1">
                <a:solidFill>
                  <a:srgbClr val="141F37"/>
                </a:solidFill>
                <a:latin typeface="Liberation Sans"/>
              </a:rPr>
              <a:t>Confidential savings,
</a:t>
            </a:r>
            <a:r>
              <a:rPr sz="3800" b="1">
                <a:solidFill>
                  <a:srgbClr val="3157F6"/>
                </a:solidFill>
                <a:latin typeface="Liberation Sans"/>
              </a:rPr>
              <a:t>without blind trust.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649224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5D6E8E"/>
                </a:solidFill>
                <a:latin typeface="Liberation Sans"/>
              </a:rPr>
              <a:t>Try the live app. Inspect the active Sepolia deployment. Review every invariant and test.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51960"/>
            <a:ext cx="411480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157F6"/>
                </a:solidFill>
                <a:latin typeface="Liberation Mono"/>
              </a:rPr>
              <a:t/>
            </a:r>
            <a:r>
              <a:rPr sz="1400" b="1">
                <a:solidFill>
                  <a:srgbClr val="3157F6"/>
                </a:solidFill>
                <a:latin typeface="Liberation Mono"/>
                <a:hlinkClick r:id="rId2"/>
              </a:rPr>
              <a:t>Open the Veylott live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736592"/>
            <a:ext cx="6035040" cy="32918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3157F6"/>
                </a:solidFill>
                <a:latin typeface="Liberation Mono"/>
              </a:rPr>
              <a:t/>
            </a:r>
            <a:r>
              <a:rPr sz="1100" b="1">
                <a:solidFill>
                  <a:srgbClr val="3157F6"/>
                </a:solidFill>
                <a:latin typeface="Liberation Mono"/>
                <a:hlinkClick r:id="rId3"/>
              </a:rPr>
              <a:t>github.com/Webghost01-NG/veylott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417320"/>
            <a:ext cx="3429000" cy="4251960"/>
          </a:xfrm>
          <a:prstGeom prst="roundRect">
            <a:avLst/>
          </a:prstGeom>
          <a:solidFill>
            <a:srgbClr val="EFF3FF"/>
          </a:solidFill>
          <a:ln w="12700">
            <a:solidFill>
              <a:srgbClr val="CFD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783080"/>
            <a:ext cx="2560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157F6"/>
                </a:solidFill>
                <a:latin typeface="Liberation Mono"/>
              </a:rPr>
              <a:t>ACTIVE POOL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331720"/>
            <a:ext cx="2560320" cy="20574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41F37"/>
                </a:solidFill>
                <a:latin typeface="Liberation Mono"/>
              </a:rPr>
              <a:t>0x54FdC46D
0EA722Ef
A4853192
678b35fC
ABFad99C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4800600"/>
            <a:ext cx="1463040" cy="292608"/>
          </a:xfrm>
          <a:prstGeom prst="roundRect">
            <a:avLst/>
          </a:prstGeom>
          <a:solidFill>
            <a:srgbClr val="E5F9F1"/>
          </a:solidFill>
          <a:ln w="12700">
            <a:solidFill>
              <a:srgbClr val="E5F9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4818888"/>
            <a:ext cx="1316736" cy="219456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87F5B"/>
                </a:solidFill>
                <a:latin typeface="Liberation Sans"/>
              </a:rPr>
              <a:t>ETHEREUM SEPOLIA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10528"/>
            <a:ext cx="1106424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D6E8E"/>
                </a:solidFill>
                <a:latin typeface="Liberation Mono"/>
              </a:rPr>
              <a:t>Veylott · Zama fhEVM · Research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Veylott — Private Prize Savings</dc:title>
  <dc:subject>Verified Zama fhEVM research deployment showcase</dc:subject>
  <dc:creator>Veylott contributors</dc:creator>
  <cp:keywords/>
  <dc:description>Generated from repository-verified facts; no fabricated transactions or production claims.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