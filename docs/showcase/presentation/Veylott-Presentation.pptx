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veylott-git-feat-veylott-rebrand-webghost01-ngs-projects.vercel.app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epolia.etherscan.io/tx/0x5fcdac841c699f4353e90d29b62509bf243af48e1fbbc2ee642b4778cbb7c676" TargetMode="External"/><Relationship Id="rId3" Type="http://schemas.openxmlformats.org/officeDocument/2006/relationships/hyperlink" Target="https://sepolia.etherscan.io/tx/0x0970fff858788dcbf926730c495fac1bd9ded55114d730aeae0c20b9d642b320" TargetMode="External"/><Relationship Id="rId4" Type="http://schemas.openxmlformats.org/officeDocument/2006/relationships/hyperlink" Target="https://sepolia.etherscan.io/tx/0xb8f29170094ac40f14df409838a08b5303265d6a3b6988a49a7f796db33fd50a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veylott-git-feat-veylott-rebrand-webghost01-ngs-projects.vercel.app/" TargetMode="External"/><Relationship Id="rId3" Type="http://schemas.openxmlformats.org/officeDocument/2006/relationships/hyperlink" Target="https://github.com/Webghost01-NG/veylot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Veylott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01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051560"/>
            <a:ext cx="246888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19" y="1069848"/>
            <a:ext cx="232257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ZAMA FHEVM · CONFIDENTIAL FINANCE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72768"/>
            <a:ext cx="6675120" cy="16002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3600" b="1">
                <a:solidFill>
                  <a:srgbClr val="141F37"/>
                </a:solidFill>
                <a:latin typeface="Liberation Sans"/>
              </a:rPr>
              <a:t>Private prize savings,
</a:t>
            </a:r>
            <a:r>
              <a:rPr sz="3600" b="1">
                <a:solidFill>
                  <a:srgbClr val="3157F6"/>
                </a:solidFill>
                <a:latin typeface="Liberation Sans"/>
              </a:rPr>
              <a:t>built for verification.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364992"/>
            <a:ext cx="5989320" cy="6217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5D6E8E"/>
                </a:solidFill>
                <a:latin typeface="Liberation Sans"/>
              </a:rPr>
              <a:t>Principal stays withdrawable while encrypted balances and ticket weights stay confidential.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24528"/>
            <a:ext cx="3840480" cy="320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157F6"/>
                </a:solidFill>
                <a:latin typeface="Liberation Mono"/>
              </a:rPr>
              <a:t/>
            </a:r>
            <a:r>
              <a:rPr sz="1200" b="1">
                <a:solidFill>
                  <a:srgbClr val="3157F6"/>
                </a:solidFill>
                <a:latin typeface="Liberation Mono"/>
                <a:hlinkClick r:id="rId2"/>
              </a:rPr>
              <a:t>Open the Veylott live demo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1188720"/>
            <a:ext cx="3840480" cy="4480560"/>
          </a:xfrm>
          <a:prstGeom prst="roundRect">
            <a:avLst/>
          </a:prstGeom>
          <a:solidFill>
            <a:srgbClr val="18359F"/>
          </a:solidFill>
          <a:ln w="12700">
            <a:solidFill>
              <a:srgbClr val="183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92440" y="1627632"/>
            <a:ext cx="2423160" cy="2423160"/>
          </a:xfrm>
          <a:prstGeom prst="ellipse">
            <a:avLst/>
          </a:prstGeom>
          <a:solidFill>
            <a:srgbClr val="3F5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58200" y="1993392"/>
            <a:ext cx="1691640" cy="1691640"/>
          </a:xfrm>
          <a:prstGeom prst="ellipse">
            <a:avLst/>
          </a:prstGeom>
          <a:solidFill>
            <a:srgbClr val="547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23960" y="2359152"/>
            <a:ext cx="960120" cy="960120"/>
          </a:xfrm>
          <a:prstGeom prst="ellipse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4816" y="2761488"/>
            <a:ext cx="1005840" cy="4572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Liberation Sans"/>
              </a:rPr>
              <a:t>FHE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4526280"/>
            <a:ext cx="292608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CDDAFF"/>
                </a:solidFill>
                <a:latin typeface="Liberation Mono"/>
              </a:rPr>
              <a:t>PUBLIC CUSTODY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4846320"/>
            <a:ext cx="292608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Liberation Sans"/>
              </a:rPr>
              <a:t>PRIVATE ACCOUNTING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349240"/>
            <a:ext cx="2788920" cy="292608"/>
          </a:xfrm>
          <a:prstGeom prst="roundRect">
            <a:avLst/>
          </a:prstGeom>
          <a:solidFill>
            <a:srgbClr val="FFF4D6"/>
          </a:solidFill>
          <a:ln w="12700">
            <a:solidFill>
              <a:srgbClr val="FFF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" y="5367527"/>
            <a:ext cx="2642615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915200"/>
                </a:solidFill>
                <a:latin typeface="Liberation Sans"/>
              </a:rPr>
              <a:t>UNAUDITED RESEARCH · NOT PRODUCTION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Verified claims and links: docs/showcase/SUBMISSION_OVERVIEW.md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Veylott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02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758952"/>
            <a:ext cx="502920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Mono"/>
              </a:rP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097280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F37"/>
                </a:solidFill>
                <a:latin typeface="Liberation Sans"/>
              </a:rPr>
              <a:t>Public ledgers expose private financial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719072"/>
            <a:ext cx="10332720" cy="4572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D6E8E"/>
                </a:solidFill>
                <a:latin typeface="Liberation Sans"/>
              </a:rPr>
              <a:t>Auditability should not require publishing every saver’s position.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423160"/>
            <a:ext cx="356616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2651760"/>
            <a:ext cx="566928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2670048"/>
            <a:ext cx="420623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136391"/>
            <a:ext cx="310896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1F37"/>
                </a:solidFill>
                <a:latin typeface="Liberation Sans"/>
              </a:rPr>
              <a:t>Balance exposure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21608"/>
            <a:ext cx="3108960" cy="1737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Wallet history can reveal a saver’s position, deposits, withdrawals, and changing financial behavior.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2423160"/>
            <a:ext cx="356616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44568" y="2651760"/>
            <a:ext cx="566928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2670048"/>
            <a:ext cx="420623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4568" y="3136391"/>
            <a:ext cx="310896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1F37"/>
                </a:solidFill>
                <a:latin typeface="Liberation Sans"/>
              </a:rPr>
              <a:t>Visible ticket weights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3721608"/>
            <a:ext cx="3108960" cy="1737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Transparent weights make whale activity easy to track and can disclose each participant’s relative odds.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37575" y="2423160"/>
            <a:ext cx="356616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66175" y="2651760"/>
            <a:ext cx="566928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7" y="2670048"/>
            <a:ext cx="420623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6175" y="3136391"/>
            <a:ext cx="310896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1F37"/>
                </a:solidFill>
                <a:latin typeface="Liberation Sans"/>
              </a:rPr>
              <a:t>Timing reveals intent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5" y="3721608"/>
            <a:ext cx="3108960" cy="1737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Pending deposits and last-minute entries expose behavior around a prize round before it settles.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Verified claims and links: docs/showcase/SUBMISSION_OVERVIEW.md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Veylott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03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758952"/>
            <a:ext cx="502920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Mono"/>
              </a:rPr>
              <a:t>THE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097280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F37"/>
                </a:solidFill>
                <a:latin typeface="Liberation Sans"/>
              </a:rPr>
              <a:t>Public custody. Confidential accounting.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719072"/>
            <a:ext cx="10332720" cy="4572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D6E8E"/>
                </a:solidFill>
                <a:latin typeface="Liberation Sans"/>
              </a:rPr>
              <a:t>Veylott separates what must be auditable from what should remain private.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2331720"/>
            <a:ext cx="525780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96112" y="2624328"/>
            <a:ext cx="224028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642616"/>
            <a:ext cx="209397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PUBLIC · INDEPENDENTLY VERIFIABLE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127248"/>
            <a:ext cx="429768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F37"/>
                </a:solidFill>
                <a:latin typeface="Liberation Sans"/>
              </a:rPr>
              <a:t>Custody layer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703320"/>
            <a:ext cx="4251960" cy="1463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D6E8E"/>
                </a:solidFill>
                <a:latin typeface="Liberation Sans"/>
              </a:rPr>
              <a:t>• Deposited testnet cUSDC
• Contract and custody bindings
• Transaction receipts
• Runtime and policy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596128" y="3520440"/>
            <a:ext cx="1005840" cy="640080"/>
          </a:xfrm>
          <a:prstGeom prst="rightArrow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09360" y="2331720"/>
            <a:ext cx="5257800" cy="3337560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B2C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0" y="2624328"/>
            <a:ext cx="214884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56832" y="2642616"/>
            <a:ext cx="200253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ENCRYPTED · WALLET-AUTHORIZED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127248"/>
            <a:ext cx="429768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F37"/>
                </a:solidFill>
                <a:latin typeface="Liberation Sans"/>
              </a:rPr>
              <a:t>Privacy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703320"/>
            <a:ext cx="4251960" cy="1463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D6E8E"/>
                </a:solidFill>
                <a:latin typeface="Liberation Sans"/>
              </a:rPr>
              <a:t>• Running balances as euint64
• Weighted draw intervals
• Prize credits
• Local balance reveal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Verified claims and links: docs/showcase/SUBMISSION_OVERVIEW.md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Veylott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04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758952"/>
            <a:ext cx="502920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Mono"/>
              </a:rPr>
              <a:t>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097280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F37"/>
                </a:solidFill>
                <a:latin typeface="Liberation Sans"/>
              </a:rPr>
              <a:t>A verifiable path from wallet to confidential settlement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31720"/>
            <a:ext cx="1828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4671" y="2514600"/>
            <a:ext cx="5029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3" y="2532888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2953512"/>
            <a:ext cx="1499616" cy="34747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React client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355848"/>
            <a:ext cx="1499616" cy="4389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D6E8E"/>
                </a:solidFill>
                <a:latin typeface="Liberation Sans"/>
              </a:rPr>
              <a:t>Encrypts input
Requests wallet signature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71800" y="2331720"/>
            <a:ext cx="1828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136392" y="2514600"/>
            <a:ext cx="5029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9544" y="2532888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36392" y="2953512"/>
            <a:ext cx="1499616" cy="34747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Official cUSDC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36392" y="3355848"/>
            <a:ext cx="1499616" cy="4389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D6E8E"/>
                </a:solidFill>
                <a:latin typeface="Liberation Sans"/>
              </a:rPr>
              <a:t>Moves encrypted assets
Returns actual transfer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03520" y="2331720"/>
            <a:ext cx="2011680" cy="1600200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68112" y="2514600"/>
            <a:ext cx="5029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41264" y="2532888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953512"/>
            <a:ext cx="1682496" cy="34747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ConfidentialPool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68112" y="3355848"/>
            <a:ext cx="1682496" cy="4389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D6E8E"/>
                </a:solidFill>
                <a:latin typeface="Liberation Sans"/>
              </a:rPr>
              <a:t>Owns encrypted positions
Reserve + draw state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2331720"/>
            <a:ext cx="2240280" cy="1600200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394192" y="2514600"/>
            <a:ext cx="5029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67344" y="2532888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953512"/>
            <a:ext cx="1911096" cy="34747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Zama relayer + KMS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355848"/>
            <a:ext cx="1911096" cy="4389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D6E8E"/>
                </a:solidFill>
                <a:latin typeface="Liberation Sans"/>
              </a:rPr>
              <a:t>Prepares authorized proofs
Returns proof-bound bits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0" y="4800600"/>
            <a:ext cx="201168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468112" y="4983480"/>
            <a:ext cx="5029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41264" y="5001768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68112" y="5422392"/>
            <a:ext cx="1682496" cy="34747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Indexer + PostgreSQL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68112" y="5824728"/>
            <a:ext cx="1682496" cy="4389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D6E8E"/>
                </a:solidFill>
                <a:latin typeface="Liberation Sans"/>
              </a:rPr>
              <a:t>Observes public events
Persists checkpoints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874519" y="4800600"/>
            <a:ext cx="201168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039112" y="4983480"/>
            <a:ext cx="5029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12264" y="5001768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39112" y="5422392"/>
            <a:ext cx="1682496" cy="34747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Sponsor wallet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39112" y="5824728"/>
            <a:ext cx="1682496" cy="4389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D6E8E"/>
                </a:solidFill>
                <a:latin typeface="Liberation Sans"/>
              </a:rPr>
              <a:t>Transfers encrypted cUSDC
into the prize reserve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2468880" y="3127248"/>
            <a:ext cx="502920" cy="0"/>
          </a:xfrm>
          <a:prstGeom prst="line">
            <a:avLst/>
          </a:prstGeom>
          <a:ln w="25400">
            <a:solidFill>
              <a:srgbClr val="315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800600" y="3127248"/>
            <a:ext cx="502920" cy="0"/>
          </a:xfrm>
          <a:prstGeom prst="line">
            <a:avLst/>
          </a:prstGeom>
          <a:ln w="25400">
            <a:solidFill>
              <a:srgbClr val="315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315200" y="3127248"/>
            <a:ext cx="914400" cy="0"/>
          </a:xfrm>
          <a:prstGeom prst="line">
            <a:avLst/>
          </a:prstGeom>
          <a:ln w="25400">
            <a:solidFill>
              <a:srgbClr val="315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309360" y="3931920"/>
            <a:ext cx="0" cy="868680"/>
          </a:xfrm>
          <a:prstGeom prst="line">
            <a:avLst/>
          </a:prstGeom>
          <a:ln w="25400">
            <a:solidFill>
              <a:srgbClr val="315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886200" y="3703320"/>
            <a:ext cx="1417320" cy="1892808"/>
          </a:xfrm>
          <a:prstGeom prst="line">
            <a:avLst/>
          </a:prstGeom>
          <a:ln w="25400">
            <a:solidFill>
              <a:srgbClr val="315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8229600" y="4800600"/>
            <a:ext cx="2240280" cy="914400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94192" y="5029200"/>
            <a:ext cx="1920240" cy="4572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87F5B"/>
                </a:solidFill>
                <a:latin typeface="Liberation Sans"/>
              </a:rPr>
              <a:t>Public: custody + receipts
Private: positions + winner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Verified claims and links: docs/showcase/SUBMISSION_OVERVIEW.md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Veylott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05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758952"/>
            <a:ext cx="502920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Mono"/>
              </a:rPr>
              <a:t>LIVE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097280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F37"/>
                </a:solidFill>
                <a:latin typeface="Liberation Sans"/>
              </a:rPr>
              <a:t>The console is live—and honest about connection state</a:t>
            </a:r>
          </a:p>
        </p:txBody>
      </p:sp>
      <p:pic>
        <p:nvPicPr>
          <p:cNvPr id="10" name="Picture 9" descr="live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874519"/>
            <a:ext cx="8001000" cy="4572000"/>
          </a:xfrm>
          <a:prstGeom prst="rect">
            <a:avLst/>
          </a:prstGeom>
          <a:ln w="12700">
            <a:solidFill>
              <a:srgbClr val="CFD9F1"/>
            </a:solidFill>
          </a:ln>
        </p:spPr>
      </p:pic>
      <p:sp>
        <p:nvSpPr>
          <p:cNvPr id="11" name="Rounded Rectangle 10"/>
          <p:cNvSpPr/>
          <p:nvPr/>
        </p:nvSpPr>
        <p:spPr>
          <a:xfrm>
            <a:off x="8887968" y="1874519"/>
            <a:ext cx="2697480" cy="4572000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62288" y="2167128"/>
            <a:ext cx="14173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0" y="2185416"/>
            <a:ext cx="12710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PRODUCTION CAPTURE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62288" y="2743200"/>
            <a:ext cx="205740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41F37"/>
                </a:solidFill>
                <a:latin typeface="Liberation Sans"/>
              </a:rPr>
              <a:t>Clear wallet state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62288" y="3273552"/>
            <a:ext cx="2011680" cy="12344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D6E8E"/>
                </a:solidFill>
                <a:latin typeface="Liberation Sans"/>
              </a:rPr>
              <a:t>A disconnected user sees only Connect wallet. An address appears only after the provider returns the selected account.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2288" y="4754880"/>
            <a:ext cx="2057400" cy="2926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Runtime assurance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62288" y="5166360"/>
            <a:ext cx="2011680" cy="8229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Chain, bytecode, and custody bindings are checked before protocol writes.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Captured from the canonical Veylott deployment · 5 Sep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Veylott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06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758952"/>
            <a:ext cx="502920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Mono"/>
              </a:rPr>
              <a:t>USER JOURNEY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097280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F37"/>
                </a:solidFill>
                <a:latin typeface="Liberation Sans"/>
              </a:rPr>
              <a:t>Four explicit steps. No hidden signing.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233172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578608"/>
            <a:ext cx="530352" cy="530352"/>
          </a:xfrm>
          <a:prstGeom prst="ellipse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60904"/>
            <a:ext cx="530352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Liberation Mono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383280"/>
            <a:ext cx="1874519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41F37"/>
                </a:solidFill>
                <a:latin typeface="Liberation Sans"/>
              </a:rPr>
              <a:t>Shield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069080"/>
            <a:ext cx="1874519" cy="11430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Wrap test USDC into confidential cUSDC with Zama's official Sepolia wrapper.</a:t>
            </a:r>
          </a:p>
        </p:txBody>
      </p:sp>
      <p:sp>
        <p:nvSpPr>
          <p:cNvPr id="15" name="Chevron 14"/>
          <p:cNvSpPr/>
          <p:nvPr/>
        </p:nvSpPr>
        <p:spPr>
          <a:xfrm>
            <a:off x="3054096" y="3520440"/>
            <a:ext cx="320040" cy="502920"/>
          </a:xfrm>
          <a:prstGeom prst="chevron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74720" y="2286000"/>
            <a:ext cx="2331720" cy="3383280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703320" y="2578608"/>
            <a:ext cx="530352" cy="530352"/>
          </a:xfrm>
          <a:prstGeom prst="ellipse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3320" y="2660904"/>
            <a:ext cx="530352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Liberation Mono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3320" y="3383280"/>
            <a:ext cx="1874519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41F37"/>
                </a:solidFill>
                <a:latin typeface="Liberation Sans"/>
              </a:rPr>
              <a:t>Save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4069080"/>
            <a:ext cx="1874519" cy="11430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Deposit an encrypted cUSDC amount; the pool credits only the token-returned result.</a:t>
            </a:r>
          </a:p>
        </p:txBody>
      </p:sp>
      <p:sp>
        <p:nvSpPr>
          <p:cNvPr id="21" name="Chevron 20"/>
          <p:cNvSpPr/>
          <p:nvPr/>
        </p:nvSpPr>
        <p:spPr>
          <a:xfrm>
            <a:off x="5888736" y="3520440"/>
            <a:ext cx="320040" cy="502920"/>
          </a:xfrm>
          <a:prstGeom prst="chevron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309360" y="2286000"/>
            <a:ext cx="233172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37960" y="2578608"/>
            <a:ext cx="530352" cy="530352"/>
          </a:xfrm>
          <a:prstGeom prst="ellipse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660904"/>
            <a:ext cx="530352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Liberation Mono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3383280"/>
            <a:ext cx="1874519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41F37"/>
                </a:solidFill>
                <a:latin typeface="Liberation Sans"/>
              </a:rPr>
              <a:t>Prize round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069080"/>
            <a:ext cx="1874519" cy="11430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Fund or monitor the sponsor reserve, then run a KMS-verified encrypted draw.</a:t>
            </a:r>
          </a:p>
        </p:txBody>
      </p:sp>
      <p:sp>
        <p:nvSpPr>
          <p:cNvPr id="27" name="Chevron 26"/>
          <p:cNvSpPr/>
          <p:nvPr/>
        </p:nvSpPr>
        <p:spPr>
          <a:xfrm>
            <a:off x="8723376" y="3520440"/>
            <a:ext cx="320040" cy="502920"/>
          </a:xfrm>
          <a:prstGeom prst="chevron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44000" y="2286000"/>
            <a:ext cx="2331720" cy="3383280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372600" y="2578608"/>
            <a:ext cx="530352" cy="530352"/>
          </a:xfrm>
          <a:prstGeom prst="ellipse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72600" y="2660904"/>
            <a:ext cx="530352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Liberation Mono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3383280"/>
            <a:ext cx="1874519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41F37"/>
                </a:solidFill>
                <a:latin typeface="Liberation Sans"/>
              </a:rPr>
              <a:t>Withdraw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2600" y="4069080"/>
            <a:ext cx="1874519" cy="11430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Submit an encrypted amount; accounting follows the token-returned transfer result.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Verified claims and links: docs/showcase/SUBMISSION_OVERVIEW.md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Veylott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07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758952"/>
            <a:ext cx="502920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Mono"/>
              </a:rPr>
              <a:t>SECURITY CONTROLS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097280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F37"/>
                </a:solidFill>
                <a:latin typeface="Liberation Sans"/>
              </a:rPr>
              <a:t>Solvency and settlement invariants are enforced in code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148840"/>
            <a:ext cx="10881360" cy="694944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86968" y="2350008"/>
            <a:ext cx="50292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368296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18488" y="2322576"/>
            <a:ext cx="2331720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Asset-bound credit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2322576"/>
            <a:ext cx="722376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Encrypted deposit credit is derived from the token-returned custody amount.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962656"/>
            <a:ext cx="108813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86968" y="3163824"/>
            <a:ext cx="50292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182112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18488" y="3136392"/>
            <a:ext cx="2331720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Reserved prizes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3136392"/>
            <a:ext cx="722376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Each draw consumes verified sponsor funds so assets cannot fund repeated awards.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776472"/>
            <a:ext cx="10881360" cy="694944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86968" y="3977639"/>
            <a:ext cx="50292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995927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18488" y="3950208"/>
            <a:ext cx="2331720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Complete liabilities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3950208"/>
            <a:ext cx="722376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Winner credit enters both the encrypted position and aggregate at finalization.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590288"/>
            <a:ext cx="108813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86968" y="4791455"/>
            <a:ext cx="50292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4809743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18488" y="4764024"/>
            <a:ext cx="2331720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Private settlement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6200" y="4764024"/>
            <a:ext cx="722376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KMS evidence reveals only a request-bound readiness bit; aggregate amounts stay encrypted.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404103"/>
            <a:ext cx="10881360" cy="694944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86968" y="5605271"/>
            <a:ext cx="50292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5623559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18488" y="5577840"/>
            <a:ext cx="2331720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Timeout recovery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86200" y="5577840"/>
            <a:ext cx="722376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Anyone can release a stale draw lock after the 24-hour cancellation delay.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Verified claims and links: docs/showcase/SUBMISSION_OVERVIEW.md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Veylott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08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758952"/>
            <a:ext cx="502920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Mono"/>
              </a:rPr>
              <a:t>VERIFIED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097280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F37"/>
                </a:solidFill>
                <a:latin typeface="Liberation Sans"/>
              </a:rPr>
              <a:t>A real three-wallet round on the active pool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719072"/>
            <a:ext cx="10332720" cy="4572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D6E8E"/>
                </a:solidFill>
                <a:latin typeface="Liberation Sans"/>
              </a:rPr>
              <a:t>Each transaction links directly to a confirmed Sepolia receipt; no result is simulated.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487168"/>
            <a:ext cx="3401568" cy="2542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86968" y="2724912"/>
            <a:ext cx="5029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743200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246120"/>
            <a:ext cx="2834640" cy="3657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1F37"/>
                </a:solidFill>
                <a:latin typeface="Liberation Sans"/>
              </a:rPr>
              <a:t>Encrypted deposit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858768"/>
            <a:ext cx="27432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157F6"/>
                </a:solidFill>
                <a:latin typeface="Liberation Mono"/>
              </a:rPr>
              <a:t/>
            </a:r>
            <a:r>
              <a:rPr sz="1200" b="1">
                <a:solidFill>
                  <a:srgbClr val="3157F6"/>
                </a:solidFill>
                <a:latin typeface="Liberation Mono"/>
                <a:hlinkClick r:id="rId2"/>
              </a:rPr>
              <a:t>0x5fcdac…c676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4407408"/>
            <a:ext cx="27432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87F5B"/>
                </a:solidFill>
                <a:latin typeface="Liberation Sans"/>
              </a:rPr>
              <a:t>3 wallets activated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61688" y="2487168"/>
            <a:ext cx="3401568" cy="2542032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90288" y="2724912"/>
            <a:ext cx="5029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2743200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3246120"/>
            <a:ext cx="2834640" cy="3657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1F37"/>
                </a:solidFill>
                <a:latin typeface="Liberation Sans"/>
              </a:rPr>
              <a:t>Readiness KMS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0288" y="3858768"/>
            <a:ext cx="27432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157F6"/>
                </a:solidFill>
                <a:latin typeface="Liberation Mono"/>
              </a:rPr>
              <a:t/>
            </a:r>
            <a:r>
              <a:rPr sz="1200" b="1">
                <a:solidFill>
                  <a:srgbClr val="3157F6"/>
                </a:solidFill>
                <a:latin typeface="Liberation Mono"/>
                <a:hlinkClick r:id="rId3"/>
              </a:rPr>
              <a:t>0x0970ff…b320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0288" y="4407408"/>
            <a:ext cx="27432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87F5B"/>
                </a:solidFill>
                <a:latin typeface="Liberation Sans"/>
              </a:rPr>
              <a:t>Draw 1 finalized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65008" y="2487168"/>
            <a:ext cx="3401568" cy="2542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93608" y="2724912"/>
            <a:ext cx="5029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66760" y="2743200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3246120"/>
            <a:ext cx="2834640" cy="3657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1F37"/>
                </a:solidFill>
                <a:latin typeface="Liberation Sans"/>
              </a:rPr>
              <a:t>Private claim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3858768"/>
            <a:ext cx="27432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157F6"/>
                </a:solidFill>
                <a:latin typeface="Liberation Mono"/>
              </a:rPr>
              <a:t/>
            </a:r>
            <a:r>
              <a:rPr sz="1200" b="1">
                <a:solidFill>
                  <a:srgbClr val="3157F6"/>
                </a:solidFill>
                <a:latin typeface="Liberation Mono"/>
                <a:hlinkClick r:id="rId4"/>
              </a:rPr>
              <a:t>0xb8f291…d50a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3608" y="4407408"/>
            <a:ext cx="27432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87F5B"/>
                </a:solidFill>
                <a:latin typeface="Liberation Sans"/>
              </a:rPr>
              <a:t>Ordinary withdrawal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011680" y="5349240"/>
            <a:ext cx="8183879" cy="502920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148840" y="5486400"/>
            <a:ext cx="790956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87F5B"/>
                </a:solidFill>
                <a:latin typeface="Liberation Sans"/>
              </a:rPr>
              <a:t>3 deposits → draw 1 → private claim → all exits → participant count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Full hashes and runtime evidence: docs/operations/live-prize-lifecycle.md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Veylott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09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758952"/>
            <a:ext cx="502920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Mono"/>
              </a:rPr>
              <a:t>ENGINEERING PROOF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097280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F37"/>
                </a:solidFill>
                <a:latin typeface="Liberation Sans"/>
              </a:rPr>
              <a:t>Reproducible tests—and durable live infrastructure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48840"/>
            <a:ext cx="3749039" cy="3520440"/>
          </a:xfrm>
          <a:prstGeom prst="roundRect">
            <a:avLst/>
          </a:prstGeom>
          <a:solidFill>
            <a:srgbClr val="18359F"/>
          </a:solidFill>
          <a:ln w="12700">
            <a:solidFill>
              <a:srgbClr val="183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3200400" cy="9144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Liberation Sans"/>
              </a:rPr>
              <a:t>163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566160"/>
            <a:ext cx="3200400" cy="320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CDDAFF"/>
                </a:solidFill>
                <a:latin typeface="Liberation Mono"/>
              </a:rPr>
              <a:t>TESTS PASSING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3200400" cy="9144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latin typeface="Liberation Sans"/>
              </a:rPr>
              <a:t>Foundry contracts · backend API/indexer
client encryption · frontend UX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09160" y="2148840"/>
            <a:ext cx="6812280" cy="93268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83480" y="2368296"/>
            <a:ext cx="1188720" cy="2926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1F37"/>
                </a:solidFill>
                <a:latin typeface="Liberation Sans"/>
              </a:rPr>
              <a:t>Vercel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68296"/>
            <a:ext cx="2514600" cy="2926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E8E"/>
                </a:solidFill>
                <a:latin typeface="Liberation Sans"/>
              </a:rPr>
              <a:t>React frontend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81160" y="2450592"/>
            <a:ext cx="178308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54312" y="2468880"/>
            <a:ext cx="163677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PRODUCTION UI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09160" y="3319272"/>
            <a:ext cx="68122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3538728"/>
            <a:ext cx="1188720" cy="2926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1F37"/>
                </a:solidFill>
                <a:latin typeface="Liberation Sans"/>
              </a:rPr>
              <a:t>Render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538728"/>
            <a:ext cx="2514600" cy="2926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E8E"/>
                </a:solidFill>
                <a:latin typeface="Liberation Sans"/>
              </a:rPr>
              <a:t>Node indexer/API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81160" y="3621024"/>
            <a:ext cx="178308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54312" y="3639312"/>
            <a:ext cx="163677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PUBLIC API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09160" y="4489704"/>
            <a:ext cx="6812280" cy="93268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83480" y="4709160"/>
            <a:ext cx="1188720" cy="2926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1F37"/>
                </a:solidFill>
                <a:latin typeface="Liberation Sans"/>
              </a:rPr>
              <a:t>Neon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709160"/>
            <a:ext cx="2514600" cy="2926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E8E"/>
                </a:solidFill>
                <a:latin typeface="Liberation Sans"/>
              </a:rPr>
              <a:t>PostgreSQL checkpoint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81160" y="4791456"/>
            <a:ext cx="178308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54312" y="4809744"/>
            <a:ext cx="163677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RESTART RECOVERY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09160" y="5577840"/>
            <a:ext cx="6812280" cy="411480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92040" y="5669280"/>
            <a:ext cx="640080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87F5B"/>
                </a:solidFill>
                <a:latin typeface="Liberation Sans"/>
              </a:rPr>
              <a:t>Audit-scope verifier binds source, bytecode, custody and policy across 2 RPCs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Verified claims and links: docs/showcase/SUBMISSION_OVERVIEW.md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Veylott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10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143000"/>
            <a:ext cx="23317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19" y="1161288"/>
            <a:ext cx="2185415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OPEN RESEARCH · VERIFIABLE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645920"/>
            <a:ext cx="7132320" cy="1371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3800" b="1">
                <a:solidFill>
                  <a:srgbClr val="141F37"/>
                </a:solidFill>
                <a:latin typeface="Liberation Sans"/>
              </a:rPr>
              <a:t>Confidential savings,
</a:t>
            </a:r>
            <a:r>
              <a:rPr sz="3800" b="1">
                <a:solidFill>
                  <a:srgbClr val="3157F6"/>
                </a:solidFill>
                <a:latin typeface="Liberation Sans"/>
              </a:rPr>
              <a:t>without blind trust.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337560"/>
            <a:ext cx="6492240" cy="594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D6E8E"/>
                </a:solidFill>
                <a:latin typeface="Liberation Sans"/>
              </a:rPr>
              <a:t>Try the live app. Inspect the active Sepolia deployment. Review every invariant and test.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51960"/>
            <a:ext cx="411480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157F6"/>
                </a:solidFill>
                <a:latin typeface="Liberation Mono"/>
              </a:rPr>
              <a:t/>
            </a:r>
            <a:r>
              <a:rPr sz="1400" b="1">
                <a:solidFill>
                  <a:srgbClr val="3157F6"/>
                </a:solidFill>
                <a:latin typeface="Liberation Mono"/>
                <a:hlinkClick r:id="rId2"/>
              </a:rPr>
              <a:t>Open the Veylott live demo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736592"/>
            <a:ext cx="603504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3157F6"/>
                </a:solidFill>
                <a:latin typeface="Liberation Mono"/>
              </a:rPr>
              <a:t/>
            </a:r>
            <a:r>
              <a:rPr sz="1100" b="1">
                <a:solidFill>
                  <a:srgbClr val="3157F6"/>
                </a:solidFill>
                <a:latin typeface="Liberation Mono"/>
                <a:hlinkClick r:id="rId3"/>
              </a:rPr>
              <a:t>github.com/Webghost01-NG/veylott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5349240"/>
            <a:ext cx="2971800" cy="292608"/>
          </a:xfrm>
          <a:prstGeom prst="roundRect">
            <a:avLst/>
          </a:prstGeom>
          <a:solidFill>
            <a:srgbClr val="FFF4D6"/>
          </a:solidFill>
          <a:ln w="12700">
            <a:solidFill>
              <a:srgbClr val="FFF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5367527"/>
            <a:ext cx="282549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915200"/>
                </a:solidFill>
                <a:latin typeface="Liberation Sans"/>
              </a:rPr>
              <a:t>UNAUDITED · SPONSOR-FUNDED · MAX 12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1417320"/>
            <a:ext cx="3429000" cy="4251960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79" y="1783080"/>
            <a:ext cx="256032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Mono"/>
              </a:rPr>
              <a:t>ACTIVE POOL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2331720"/>
            <a:ext cx="2560320" cy="20574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141F37"/>
                </a:solidFill>
                <a:latin typeface="Liberation Mono"/>
              </a:rPr>
              <a:t>0x2150d7D8
2117b927
Dd325393
5E34f67D
8B37d424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79" y="4800600"/>
            <a:ext cx="146304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57031" y="4818888"/>
            <a:ext cx="131673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ETHEREUM SEPOLIA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Veylott · Zama fhEVM · Research deployment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Veylott — Private Prize Savings</dc:title>
  <dc:subject>Verified Zama fhEVM research deployment showcase</dc:subject>
  <dc:creator>Veylott contributors</dc:creator>
  <cp:keywords/>
  <dc:description>Generated from repository-verified facts; no fabricated transactions or production claims.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